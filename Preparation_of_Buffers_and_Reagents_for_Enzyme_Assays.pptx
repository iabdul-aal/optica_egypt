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 afternoon Dr. [Doctor's Name] and colleagues.</a:t>
            </a:r>
          </a:p>
          <a:p/>
          <a:p>
            <a:r>
              <a:t>Today, I am presenting on 'Preparation of Buffers and Reagents for Enzyme Assays: Chemical Principles, Formulation Protocols, and Analytical Best Practices.'</a:t>
            </a:r>
          </a:p>
          <a:p/>
          <a:p>
            <a:r>
              <a:t>In biotechnology and protein chemistry, enzymes are delicate biocatalysts whose reaction velocities, binding affinities (Km), and structural integrities depend entirely on their immediate microenvironment. An enzyme assay is only as reproducible as the chemical buffer in which it takes place. Today, we will examine the thermodynamic principles of buffering, how to select and formulate traditional vs. Good's buffers, the chemistry of essential reagents and stabilizers, step-by-step SOPs, and critical troubleshooting strategies to avoid common laboratory artifacts.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give an executive roadmap of this presentation:</a:t>
            </a:r>
          </a:p>
          <a:p/>
          <a:p>
            <a:r>
              <a:t>We divide the topic into four systematic pillars:</a:t>
            </a:r>
          </a:p>
          <a:p>
            <a:r>
              <a:t>1. First, the theoretical principles: What happens to an enzyme at the molecular level when pH and ionic strength shift? We will examine the Henderson-Hasselbalch relationship and temperature dependence.</a:t>
            </a:r>
          </a:p>
          <a:p>
            <a:r>
              <a:t>2. Second, how we select the appropriate buffer: comparing classic inorganic buffers with Good's zwitterionic buffers, and why metal compatibility and UV transparency are decisive.</a:t>
            </a:r>
          </a:p>
          <a:p>
            <a:r>
              <a:t>3. Third, formulating critical reagents: substrates, cofactors, reducing agents to preserve thiols, and stabilizers like BSA and glycerol.</a:t>
            </a:r>
          </a:p>
          <a:p>
            <a:r>
              <a:t>4. Fourth, execution: standard operating procedures, mathematical formulas, real-world assay recipes, and troubleshooting common laboratory failures.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examine why the chemical microenvironment is so critical for catalysis.</a:t>
            </a:r>
          </a:p>
          <a:p/>
          <a:p>
            <a:r>
              <a:t>An enzyme is not an inert catalyst like platinum; it is a flexible protein whose active site depends on the protonation states of specific amino acid side chains.</a:t>
            </a:r>
          </a:p>
          <a:p>
            <a:r>
              <a:t>For example, in a cysteine protease, the active site cysteine must be in the thiolate form (deprotonated) to attack the carbonyl substrate, while an adjacent histidine must be protonated. If the pH changes even slightly, the proportion of active enzyme molecules plummets.</a:t>
            </a:r>
          </a:p>
          <a:p/>
          <a:p>
            <a:r>
              <a:t>Furthermore, substrates like ATP or phospho-peptides are polyvalent ions; their charge changes with pH, which directly alters their binding affinity (Km). That is why enzymologists observe the classic bell-shaped pH-activity curve.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examine the mathematical and physical foundations.</a:t>
            </a:r>
          </a:p>
          <a:p/>
          <a:p>
            <a:r>
              <a:t>The Henderson-Hasselbalch equation defines the relationship between pH, pKa, and the ratio of conjugate base to weak acid. Donald Van Slyke defined buffer capacity (beta) as the moles of strong acid or base required to change the pH by one unit.</a:t>
            </a:r>
          </a:p>
          <a:p>
            <a:r>
              <a:t>Notice that buffer capacity is directly proportional to total buffer concentration C, but peaks sharply when pH equals pKa. Therefore, rule number one: never use a buffer outside of its pKa plus or minus 1 range.</a:t>
            </a:r>
          </a:p>
          <a:p/>
          <a:p>
            <a:r>
              <a:t>On the right side is the single most common mistake students and even senior researchers make: the temperature coefficient, dpKa/dT. Amine buffers like Tris have high temperature coefficients (-0.028 per degree Celsius). If you titrate Tris to pH 7.50 at 25 degrees on the bench, and then run your assay at 37 degrees, the actual pH drops to 7.16! This completely invalidates your kinetic data.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did Dr. Norman Good introduce synthetic biological buffers in 1966?</a:t>
            </a:r>
          </a:p>
          <a:p/>
          <a:p>
            <a:r>
              <a:t>Prior to Good's work, biochemists relied on phosphate, Tris, and citrate. But as you see on the left, phosphate precipitates magnesium and calcium. In an ATPase or kinase assay requiring Mg2+, phosphate is completely unusable. Tris is a primary amine that reacts with aldehydes and has a terrible temperature coefficient.</a:t>
            </a:r>
          </a:p>
          <a:p/>
          <a:p>
            <a:r>
              <a:t>Norman Good synthesized zwitterionic buffers containing ethanesulfonic acid groups, like HEPES and MOPS. Because they are zwitterions with both positive and negative charges, they do not cross biological membranes, they do not bind metal cofactors significantly, and crucially, they do not absorb ultraviolet light above 230 nanometers.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a critical reference matrix comparing the primary biological buffers used in modern enzymology.</a:t>
            </a:r>
          </a:p>
          <a:p/>
          <a:p>
            <a:r>
              <a:t>Notice the comparison between HEPES and Tris: both cover the physiological to slightly alkaline range. However, Tris has twice the temperature sensitivity of HEPES (-0.028 vs -0.014) and possesses a reactive primary amine.</a:t>
            </a:r>
          </a:p>
          <a:p/>
          <a:p>
            <a:r>
              <a:t>Also notice Phosphate: while its temperature coefficient is practically zero (-0.0028), its fatal flaw is the precipitation of polyvalent cations like magnesium and calcium, as well as competitive inhibition of any enzyme operating on phosphate esters, such as alkaline phosphatase or hexokinase.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Turning to the reagents themselves: starting with substrates.</a:t>
            </a:r>
          </a:p>
          <a:p/>
          <a:p>
            <a:r>
              <a:t>In kinetic assays, we must distinguish between measuring Vmax, where we need saturating substrate—at least 10 times the Km—and inhibitor screening, where substrate concentration must be kept close to Km so that competitive inhibitors can effectively compete.</a:t>
            </a:r>
          </a:p>
          <a:p/>
          <a:p>
            <a:r>
              <a:t>A common practical hurdle in biotechnology is that many substrates are hydrophobic (such as steroids or synthetic fluorogenic probes). We dissolve them in DMSO, but the golden rule is that the final concentration of DMSO in the reaction well must not exceed 1 to 2 percent. High organic solvent levels denature enzymes.</a:t>
            </a:r>
          </a:p>
          <a:p/>
          <a:p>
            <a:r>
              <a:t>Additionally, reagents like p-NPP spontaneously hydrolyze over time, creating high background absorbance. They must be prepared fresh or stored as single-use frozen aliquots in light-protected amber tubes.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addresses metal cofactors and chelators.</a:t>
            </a:r>
          </a:p>
          <a:p/>
          <a:p>
            <a:r>
              <a:t>A vital biochemical fact: in kinase or ATPase assays, free ATP is actually an inhibitor. The real substrate is the magnesium-ATP complex (Mg-ATP 2-). Therefore, total magnesium concentration must always be in stoichiometric excess over ATP by at least 1 to 5 millimolar.</a:t>
            </a:r>
          </a:p>
          <a:p/>
          <a:p>
            <a:r>
              <a:t>Regarding chelators: EDTA is a wonderful tool to mop up trace heavy metals like copper or lead from laboratory water that would otherwise poison cysteine residues. However, if your enzyme requires magnesium, excess EDTA will strip that magnesium and kill activity.</a:t>
            </a:r>
          </a:p>
          <a:p>
            <a:r>
              <a:t>If you want to chelate calcium without touching magnesium, you use EGTA, which has a 100,000-fold higher affinity for calcium.</a:t>
            </a:r>
          </a:p>
          <a:p/>
          <a:p>
            <a:r>
              <a:t>And please note the golden warning at the bottom: never mix magnesium or calcium with phosphate buffer, because magnesium phosphate will precipitate as a milky white solid.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Many enzymes have cysteine residues in or near their active site. In an oxidizing environment, these thiols oxidize into inactive disulfides or sulfenic acids. To maintain activity, we include reducing agents.</a:t>
            </a:r>
          </a:p>
          <a:p/>
          <a:p>
            <a:r>
              <a:t>Here we compare the three major reducing agents:</a:t>
            </a:r>
          </a:p>
          <a:p>
            <a:r>
              <a:t>Beta-mercaptoethanol is cheap, but it smells terrible, is volatile, and oxidizes in air within hours.</a:t>
            </a:r>
          </a:p>
          <a:p>
            <a:r>
              <a:t>DTT, or Cleland's reagent, is a dithiol. When oxidized, it forms a thermodynamically stable six-membered ring, making it much more potent than BME. However, DTT absorbs in the far-UV spectrum and slowly oxidizes in solution.</a:t>
            </a:r>
          </a:p>
          <a:p/>
          <a:p>
            <a:r>
              <a:t>TCEP is phosphine-based. It is odorless, does not oxidize in air, remains stable from pH 1.5 to 8.5, and does not absorb at 280 nanometers. However, TCEP can react with NAD+ or NADP+ cofactors, so always run a control if working with dehydrogenases.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Enzymes are fragile, and in an assay tube, they face multiple threats to stability.</a:t>
            </a:r>
          </a:p>
          <a:p/>
          <a:p>
            <a:r>
              <a:t>First, surface adsorption: when working with dilute enzymes in the nanomolar range, a significant percentage of the protein sticks to the plastic walls of the pipette tip and 96-well plate. Adding 0.1% BSA coats the plastic surfaces, ensuring all enzyme molecules remain in solution.</a:t>
            </a:r>
          </a:p>
          <a:p/>
          <a:p>
            <a:r>
              <a:t>Second, cryoprotectants like glycerol and trehalose: they increase the hydration sphere around the enzyme, stabilizing the native conformation and preventing ice crystals from shearing the protein during freezing.</a:t>
            </a:r>
          </a:p>
          <a:p/>
          <a:p>
            <a:r>
              <a:t>Third, non-ionic detergents like Tween-20 prevent aggregation at the air-water meniscus.</a:t>
            </a:r>
          </a:p>
          <a:p/>
          <a:p>
            <a:r>
              <a:t>And fourth, if working with cell lysates, protease and phosphatase inhibitor cocktails are non-negotiable to prevent degradation.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core quantitative calculations that every enzymologist must master.</a:t>
            </a:r>
          </a:p>
          <a:p/>
          <a:p>
            <a:r>
              <a:t>First, molarity calculations: please pay attention to hydration state. For example, magnesium chloride is almost always sold as hexahydrate, MgCl2 dot 6H2O, with a molecular weight of 203.3. If you use the anhydrous weight of 95.2, your actual magnesium concentration will be less than half of what you intended!</a:t>
            </a:r>
          </a:p>
          <a:p/>
          <a:p>
            <a:r>
              <a:t>Second, the stock solution strategy: we prepare 10X assay buffer and 100X cofactor stocks. Why? Because pipetting less than 2 microliters with a standard micropipette introduces a volumetric error of 5 to 10 percent.</a:t>
            </a:r>
          </a:p>
          <a:p/>
          <a:p>
            <a:r>
              <a:t>Third, ionic strength: calculated as half the sum of concentration times the square of the valence. Divalent ions like sulfate or magnesium contribute four times more to ionic strength than monovalent sodium or chloride. Ionic strength screens electrostatic charges between the enzyme's active site and charged substrates.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standard operating procedure (SOP) that should be taped on every enzymology laboratory bench.</a:t>
            </a:r>
          </a:p>
          <a:p/>
          <a:p>
            <a:r>
              <a:t>Step 1: Always use Type 1 Milli-Q water (18.2 megohm-cm resistance). Tap water and poorly maintained deionized water contain trace iron and copper that destroy enzymes.</a:t>
            </a:r>
          </a:p>
          <a:p>
            <a:r>
              <a:t>Step 2: Dissolve the buffer salts in approximately 80 percent of the final volume in a beaker. Never dissolve directly in a volumetric flask because you need room to titrate.</a:t>
            </a:r>
          </a:p>
          <a:p>
            <a:r>
              <a:t>Step 3: Calibrate your pH meter using three standard buffers: 4.01, 7.00, and 10.01, and confirm that the slope is between 95 and 102 percent.</a:t>
            </a:r>
          </a:p>
          <a:p>
            <a:r>
              <a:t>Step 4: Titrate at the exact assay temperature. If the assay runs at 37 degrees, warm the solution to 37 degrees before measuring pH.</a:t>
            </a:r>
          </a:p>
          <a:p>
            <a:r>
              <a:t>Step 5: Quantitatively transfer to a volumetric flask and bring to the mark (Q.S. - quantum satis).</a:t>
            </a:r>
          </a:p>
          <a:p>
            <a:r>
              <a:t>Step 6: Filter through a 0.22 micron membrane to eliminate microbes and particulates that scatter light.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examine the optical detection window.</a:t>
            </a:r>
          </a:p>
          <a:p/>
          <a:p>
            <a:r>
              <a:t>Most enzyme assays are coupled to spectrophotometric detection. In the UV range, particularly 340 nm, we monitor NADH or NADPH consumption or production. If your buffer contains Triton X-100, its aromatic ring will saturate your spectrophotometer detector. If your buffer has high DTT, background noise will obscure the signal.</a:t>
            </a:r>
          </a:p>
          <a:p/>
          <a:p>
            <a:r>
              <a:t>In the visible range, consider p-nitrophenol at 405 nm. The yellow color is only produced by the unprotonated phenolate ion. If your buffer fails to keep the pH alkaline, the product remains protonated and colorless, misleading you into thinking your enzyme has lost activity!</a:t>
            </a:r>
          </a:p>
          <a:p/>
          <a:p>
            <a:r>
              <a:t>For fluorescence assays, beware of the inner filter effect and always use black microplates to eliminate optical cross-talk between wells.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ground our discussion in real experimental practice, here are the buffer recipes for three landmark assays in biotechnology.</a:t>
            </a:r>
          </a:p>
          <a:p/>
          <a:p>
            <a:r>
              <a:t>First, Alkaline Phosphatase: Notice the buffer is Diethanolamine at pH 9.8 with 0.5 mM MgCl2. Magnesium is an absolute requirement for ALP catalysis. We measure p-nitrophenol production at 405 nm.</a:t>
            </a:r>
          </a:p>
          <a:p/>
          <a:p>
            <a:r>
              <a:t>Second, Lactate Dehydrogenase: Here we use 50 mM Potassium Phosphate at pH 7.4. Why phosphate? Because there are no divalent cations present, and phosphate provides superb buffering at pH 7.4 with zero temperature drift. We track the disappearance of NADH at 340 nm.</a:t>
            </a:r>
          </a:p>
          <a:p/>
          <a:p>
            <a:r>
              <a:t>Third, Horseradish Peroxidase: Here the optimum pH is acidic—pH 5.0—so we use a Citrate-Phosphate buffer. And notice the critical warning: never add sodium azide to an HRP buffer, because azide binds to the heme iron and completely abolishes peroxidase activity.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Proper storage and stability management represent the difference between reproducible assays and mysterious experimental failures.</a:t>
            </a:r>
          </a:p>
          <a:p/>
          <a:p>
            <a:r>
              <a:t>At room temperature, only inorganic salt stocks should be kept, and bottles must be tightly sealed because open containers absorb CO2 from the air, acidifying the water.</a:t>
            </a:r>
          </a:p>
          <a:p/>
          <a:p>
            <a:r>
              <a:t>At 4 degrees Celsius, working buffers are good for two to four weeks. Always check for microbial contamination or salt precipitation.</a:t>
            </a:r>
          </a:p>
          <a:p/>
          <a:p>
            <a:r>
              <a:t>At -20 or -80 degrees, enzymes, ATP, NADH, and DTT must be aliquoted into single-use tubes. Never freeze-thaw an enzyme repeatedly; the formation of ice crystals shears the tertiary structure and rapidly inactivates the enzyme.</a:t>
            </a:r>
          </a:p>
          <a:p/>
          <a:p>
            <a:r>
              <a:t>Finally, for light-sensitive reagents like NADH or fluorophores, always wrap tubes in aluminum foil.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troubleshooting matrix is a practical guide to diagnosing the most common failures encountered in enzyme assay preparation.</a:t>
            </a:r>
          </a:p>
          <a:p/>
          <a:p>
            <a:r>
              <a:t>If you see day-to-day variability in Vmax, 90% of the time it is due to temperature drift during pH adjustment.</a:t>
            </a:r>
          </a:p>
          <a:p>
            <a:r>
              <a:t>If you see a precipitate, you have mixed polyvalent cations with phosphate or carbonate.</a:t>
            </a:r>
          </a:p>
          <a:p>
            <a:r>
              <a:t>If activity mysteriously drops as you dilute the enzyme, the enzyme is sticking to the plastic walls of the well—add 0.1% BSA.</a:t>
            </a:r>
          </a:p>
          <a:p>
            <a:r>
              <a:t>If the UV background at 340 nm is abnormally high, check for oxidized DTT or Triton X-100 and switch to TCEP or Tween-20.</a:t>
            </a:r>
          </a:p>
          <a:p>
            <a:r>
              <a:t>And if your no-enzyme blank has high activity, your substrate is auto-hydrolyzing; prepare it fresh on ice.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summary, before you load your samples into the spectrophotometer or microplate reader, run through this 6-point golden checklist:</a:t>
            </a:r>
          </a:p>
          <a:p/>
          <a:p>
            <a:r>
              <a:t>1. Is your buffer pKa within 0.8 units of your assay pH?</a:t>
            </a:r>
          </a:p>
          <a:p>
            <a:r>
              <a:t>2. Was the pH adjusted at the assay temperature?</a:t>
            </a:r>
          </a:p>
          <a:p>
            <a:r>
              <a:t>3. Was 18.2 megohm Type 1 water used?</a:t>
            </a:r>
          </a:p>
          <a:p>
            <a:r>
              <a:t>4. Are labile cofactors and reducing agents fresh from single-use aliquots?</a:t>
            </a:r>
          </a:p>
          <a:p>
            <a:r>
              <a:t>5. Did you include BSA or detergent to prevent surface loss?</a:t>
            </a:r>
          </a:p>
          <a:p>
            <a:r>
              <a:t>6. And finally, do you have both no-enzyme and no-substrate controls on your plate?</a:t>
            </a:r>
          </a:p>
          <a:p/>
          <a:p>
            <a:r>
              <a:t>If you check all six boxes, your kinetic data will be rock solid, fully reproducible, and ready for publication.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authoritative references and landmark literature underpinning this presentation, including Norman Good's original 1966 Biochemistry paper, Segel's Biochemical Calculations, and standard practical manuals from Oxford University Press and Wiley-VCH.</a:t>
            </a:r>
          </a:p>
          <a:p/>
          <a:p>
            <a:r>
              <a:t>Thank you very much, Dr. [Doctor's Name] and colleagues, for your time and attention. I would be glad to answer any questions regarding buffer formulation, cofactor kinetics, or assay troubleshooting.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645920"/>
            <a:ext cx="731520"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920240"/>
            <a:ext cx="10515600" cy="365760"/>
          </a:xfrm>
          <a:prstGeom prst="rect">
            <a:avLst/>
          </a:prstGeom>
          <a:noFill/>
        </p:spPr>
        <p:txBody>
          <a:bodyPr wrap="none">
            <a:spAutoFit/>
          </a:bodyPr>
          <a:lstStyle/>
          <a:p>
            <a:pPr>
              <a:defRPr sz="1100" b="1">
                <a:solidFill>
                  <a:srgbClr val="38BDF8"/>
                </a:solidFill>
                <a:latin typeface="Arial"/>
              </a:defRPr>
            </a:pPr>
            <a:r>
              <a:t>DEPARTMENT OF BIOTECHNOLOGY  •  ADVANCED ENZYMOLOGY &amp; BIOCHEMISTRY</a:t>
            </a:r>
          </a:p>
        </p:txBody>
      </p:sp>
      <p:sp>
        <p:nvSpPr>
          <p:cNvPr id="5" name="TextBox 4"/>
          <p:cNvSpPr txBox="1"/>
          <p:nvPr/>
        </p:nvSpPr>
        <p:spPr>
          <a:xfrm>
            <a:off x="731520" y="2377440"/>
            <a:ext cx="10515600" cy="1645920"/>
          </a:xfrm>
          <a:prstGeom prst="rect">
            <a:avLst/>
          </a:prstGeom>
          <a:noFill/>
        </p:spPr>
        <p:txBody>
          <a:bodyPr wrap="square">
            <a:spAutoFit/>
          </a:bodyPr>
          <a:lstStyle/>
          <a:p>
            <a:pPr>
              <a:defRPr sz="3600" b="1">
                <a:solidFill>
                  <a:srgbClr val="FFFFFF"/>
                </a:solidFill>
                <a:latin typeface="Arial"/>
              </a:defRPr>
            </a:pPr>
            <a:r>
              <a:t>Preparation of Buffers and Reagents</a:t>
            </a:r>
            <a:br/>
            <a:r>
              <a:t>for Enzyme Assays</a:t>
            </a:r>
          </a:p>
        </p:txBody>
      </p:sp>
      <p:sp>
        <p:nvSpPr>
          <p:cNvPr id="6" name="TextBox 5"/>
          <p:cNvSpPr txBox="1"/>
          <p:nvPr/>
        </p:nvSpPr>
        <p:spPr>
          <a:xfrm>
            <a:off x="731520" y="4114800"/>
            <a:ext cx="10515600" cy="731520"/>
          </a:xfrm>
          <a:prstGeom prst="rect">
            <a:avLst/>
          </a:prstGeom>
          <a:noFill/>
        </p:spPr>
        <p:txBody>
          <a:bodyPr wrap="square">
            <a:spAutoFit/>
          </a:bodyPr>
          <a:lstStyle/>
          <a:p>
            <a:pPr>
              <a:defRPr sz="1600">
                <a:solidFill>
                  <a:srgbClr val="94A3B8"/>
                </a:solidFill>
                <a:latin typeface="Arial"/>
              </a:defRPr>
            </a:pPr>
            <a:r>
              <a:t>Chemical Principles, Thermodynamic Foundations, Formulation Protocols, and Analytical Best Practices</a:t>
            </a:r>
          </a:p>
        </p:txBody>
      </p:sp>
      <p:sp>
        <p:nvSpPr>
          <p:cNvPr id="7" name="Rounded Rectangle 6"/>
          <p:cNvSpPr/>
          <p:nvPr/>
        </p:nvSpPr>
        <p:spPr>
          <a:xfrm>
            <a:off x="731520" y="5120640"/>
            <a:ext cx="10698480" cy="1097280"/>
          </a:xfrm>
          <a:prstGeom prst="roundRect">
            <a:avLst/>
          </a:prstGeom>
          <a:solidFill>
            <a:srgbClr val="112240"/>
          </a:solidFill>
          <a:ln w="1524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5257800"/>
            <a:ext cx="10149840" cy="822960"/>
          </a:xfrm>
          <a:prstGeom prst="rect">
            <a:avLst/>
          </a:prstGeom>
          <a:noFill/>
        </p:spPr>
        <p:txBody>
          <a:bodyPr wrap="square">
            <a:spAutoFit/>
          </a:bodyPr>
          <a:lstStyle/>
          <a:p>
            <a:pPr>
              <a:defRPr sz="1300" b="1">
                <a:solidFill>
                  <a:srgbClr val="FFFFFF"/>
                </a:solidFill>
                <a:latin typeface="Arial"/>
              </a:defRPr>
            </a:pPr>
            <a:r>
              <a:t>Academic Seminar Presentation  |  Biotechnology Degree Program</a:t>
            </a:r>
          </a:p>
          <a:p>
            <a:pPr>
              <a:defRPr sz="1100">
                <a:solidFill>
                  <a:srgbClr val="94A3B8"/>
                </a:solidFill>
                <a:latin typeface="Arial"/>
              </a:defRPr>
            </a:pPr>
            <a:r>
              <a:t>Focus Areas: Solution Chemistry, Good's Buffers, Thiol Protection, Cofactor Kinetics, SOPs &amp; Quality Control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lIns="0" rIns="0" tIns="0" bIns="0">
            <a:spAutoFit/>
          </a:bodyPr>
          <a:lstStyle/>
          <a:p>
            <a:pPr>
              <a:defRPr sz="1000" b="1">
                <a:solidFill>
                  <a:srgbClr val="0D9488"/>
                </a:solidFill>
                <a:latin typeface="Arial"/>
              </a:defRPr>
            </a:pPr>
            <a:r>
              <a:t>EXECUTIVE SUMMARY &amp; PRESENTATION ROADMAP</a:t>
            </a:r>
          </a:p>
        </p:txBody>
      </p:sp>
      <p:sp>
        <p:nvSpPr>
          <p:cNvPr id="4" name="TextBox 3"/>
          <p:cNvSpPr txBox="1"/>
          <p:nvPr/>
        </p:nvSpPr>
        <p:spPr>
          <a:xfrm>
            <a:off x="731520" y="685800"/>
            <a:ext cx="10698480" cy="594360"/>
          </a:xfrm>
          <a:prstGeom prst="rect">
            <a:avLst/>
          </a:prstGeom>
          <a:noFill/>
        </p:spPr>
        <p:txBody>
          <a:bodyPr wrap="square" lIns="0" rIns="0" tIns="0" bIns="0">
            <a:spAutoFit/>
          </a:bodyPr>
          <a:lstStyle/>
          <a:p>
            <a:pPr>
              <a:defRPr sz="2200" b="1">
                <a:solidFill>
                  <a:srgbClr val="0F172A"/>
                </a:solidFill>
                <a:latin typeface="Arial"/>
              </a:defRPr>
            </a:pPr>
            <a:r>
              <a:t>The Architecture of an Enzyme Reaction System</a:t>
            </a:r>
          </a:p>
        </p:txBody>
      </p:sp>
      <p:sp>
        <p:nvSpPr>
          <p:cNvPr id="5" name="Rounded Rectangle 4"/>
          <p:cNvSpPr/>
          <p:nvPr/>
        </p:nvSpPr>
        <p:spPr>
          <a:xfrm>
            <a:off x="731520" y="1463040"/>
            <a:ext cx="2514600" cy="39319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463040"/>
            <a:ext cx="2514600"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91640"/>
            <a:ext cx="2148840" cy="548640"/>
          </a:xfrm>
          <a:prstGeom prst="rect">
            <a:avLst/>
          </a:prstGeom>
          <a:noFill/>
        </p:spPr>
        <p:txBody>
          <a:bodyPr wrap="none">
            <a:spAutoFit/>
          </a:bodyPr>
          <a:lstStyle/>
          <a:p>
            <a:pPr>
              <a:defRPr sz="1300" b="1">
                <a:solidFill>
                  <a:srgbClr val="0F172A"/>
                </a:solidFill>
                <a:latin typeface="Arial"/>
              </a:defRPr>
            </a:pPr>
            <a:r>
              <a:t>01. Theoretical Foundations</a:t>
            </a:r>
          </a:p>
        </p:txBody>
      </p:sp>
      <p:sp>
        <p:nvSpPr>
          <p:cNvPr id="8" name="TextBox 7"/>
          <p:cNvSpPr txBox="1"/>
          <p:nvPr/>
        </p:nvSpPr>
        <p:spPr>
          <a:xfrm>
            <a:off x="914400" y="2240280"/>
            <a:ext cx="2148840" cy="2926080"/>
          </a:xfrm>
          <a:prstGeom prst="rect">
            <a:avLst/>
          </a:prstGeom>
          <a:noFill/>
        </p:spPr>
        <p:txBody>
          <a:bodyPr wrap="square">
            <a:spAutoFit/>
          </a:bodyPr>
          <a:lstStyle/>
          <a:p>
            <a:pPr>
              <a:defRPr sz="1100">
                <a:solidFill>
                  <a:srgbClr val="0F172A"/>
                </a:solidFill>
                <a:latin typeface="Arial"/>
              </a:defRPr>
            </a:pPr>
            <a:r>
              <a:t>• Henderson-Hasselbalch equation</a:t>
            </a:r>
          </a:p>
          <a:p>
            <a:pPr>
              <a:defRPr sz="1100">
                <a:solidFill>
                  <a:srgbClr val="0F172A"/>
                </a:solidFill>
                <a:latin typeface="Arial"/>
              </a:defRPr>
            </a:pPr>
            <a:r>
              <a:t>• Buffering capacity (beta)</a:t>
            </a:r>
          </a:p>
          <a:p>
            <a:pPr>
              <a:defRPr sz="1100">
                <a:solidFill>
                  <a:srgbClr val="0F172A"/>
                </a:solidFill>
                <a:latin typeface="Arial"/>
              </a:defRPr>
            </a:pPr>
            <a:r>
              <a:t>• Temperature coefficients (dpKa/dT)</a:t>
            </a:r>
          </a:p>
          <a:p>
            <a:pPr>
              <a:defRPr sz="1100">
                <a:solidFill>
                  <a:srgbClr val="0F172A"/>
                </a:solidFill>
                <a:latin typeface="Arial"/>
              </a:defRPr>
            </a:pPr>
            <a:r>
              <a:t>• Active site ionization &amp; kinetics</a:t>
            </a:r>
          </a:p>
        </p:txBody>
      </p:sp>
      <p:sp>
        <p:nvSpPr>
          <p:cNvPr id="9" name="Rounded Rectangle 8"/>
          <p:cNvSpPr/>
          <p:nvPr/>
        </p:nvSpPr>
        <p:spPr>
          <a:xfrm>
            <a:off x="3465576" y="1463040"/>
            <a:ext cx="2514600" cy="39319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465576" y="1463040"/>
            <a:ext cx="2514600"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48456" y="1691640"/>
            <a:ext cx="2148840" cy="548640"/>
          </a:xfrm>
          <a:prstGeom prst="rect">
            <a:avLst/>
          </a:prstGeom>
          <a:noFill/>
        </p:spPr>
        <p:txBody>
          <a:bodyPr wrap="none">
            <a:spAutoFit/>
          </a:bodyPr>
          <a:lstStyle/>
          <a:p>
            <a:pPr>
              <a:defRPr sz="1300" b="1">
                <a:solidFill>
                  <a:srgbClr val="0F172A"/>
                </a:solidFill>
                <a:latin typeface="Arial"/>
              </a:defRPr>
            </a:pPr>
            <a:r>
              <a:t>02. Buffer Selection</a:t>
            </a:r>
          </a:p>
        </p:txBody>
      </p:sp>
      <p:sp>
        <p:nvSpPr>
          <p:cNvPr id="12" name="TextBox 11"/>
          <p:cNvSpPr txBox="1"/>
          <p:nvPr/>
        </p:nvSpPr>
        <p:spPr>
          <a:xfrm>
            <a:off x="3648456" y="2240280"/>
            <a:ext cx="2148840" cy="2926080"/>
          </a:xfrm>
          <a:prstGeom prst="rect">
            <a:avLst/>
          </a:prstGeom>
          <a:noFill/>
        </p:spPr>
        <p:txBody>
          <a:bodyPr wrap="square">
            <a:spAutoFit/>
          </a:bodyPr>
          <a:lstStyle/>
          <a:p>
            <a:pPr>
              <a:defRPr sz="1100">
                <a:solidFill>
                  <a:srgbClr val="0F172A"/>
                </a:solidFill>
                <a:latin typeface="Arial"/>
              </a:defRPr>
            </a:pPr>
            <a:r>
              <a:t>• Traditional vs. Good's buffers</a:t>
            </a:r>
          </a:p>
          <a:p>
            <a:pPr>
              <a:defRPr sz="1100">
                <a:solidFill>
                  <a:srgbClr val="0F172A"/>
                </a:solidFill>
                <a:latin typeface="Arial"/>
              </a:defRPr>
            </a:pPr>
            <a:r>
              <a:t>• Comparative matrix of biological buffers</a:t>
            </a:r>
          </a:p>
          <a:p>
            <a:pPr>
              <a:defRPr sz="1100">
                <a:solidFill>
                  <a:srgbClr val="0F172A"/>
                </a:solidFill>
                <a:latin typeface="Arial"/>
              </a:defRPr>
            </a:pPr>
            <a:r>
              <a:t>• Metal ion compatibility</a:t>
            </a:r>
          </a:p>
          <a:p>
            <a:pPr>
              <a:defRPr sz="1100">
                <a:solidFill>
                  <a:srgbClr val="0F172A"/>
                </a:solidFill>
                <a:latin typeface="Arial"/>
              </a:defRPr>
            </a:pPr>
            <a:r>
              <a:t>• Spectral transparency in UV/Vis</a:t>
            </a:r>
          </a:p>
        </p:txBody>
      </p:sp>
      <p:sp>
        <p:nvSpPr>
          <p:cNvPr id="13" name="Rounded Rectangle 12"/>
          <p:cNvSpPr/>
          <p:nvPr/>
        </p:nvSpPr>
        <p:spPr>
          <a:xfrm>
            <a:off x="6199632" y="1463040"/>
            <a:ext cx="2514600" cy="39319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99632" y="1463040"/>
            <a:ext cx="2514600" cy="7315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1691640"/>
            <a:ext cx="2148840" cy="548640"/>
          </a:xfrm>
          <a:prstGeom prst="rect">
            <a:avLst/>
          </a:prstGeom>
          <a:noFill/>
        </p:spPr>
        <p:txBody>
          <a:bodyPr wrap="none">
            <a:spAutoFit/>
          </a:bodyPr>
          <a:lstStyle/>
          <a:p>
            <a:pPr>
              <a:defRPr sz="1300" b="1">
                <a:solidFill>
                  <a:srgbClr val="0F172A"/>
                </a:solidFill>
                <a:latin typeface="Arial"/>
              </a:defRPr>
            </a:pPr>
            <a:r>
              <a:t>03. Reagents &amp; Additives</a:t>
            </a:r>
          </a:p>
        </p:txBody>
      </p:sp>
      <p:sp>
        <p:nvSpPr>
          <p:cNvPr id="16" name="TextBox 15"/>
          <p:cNvSpPr txBox="1"/>
          <p:nvPr/>
        </p:nvSpPr>
        <p:spPr>
          <a:xfrm>
            <a:off x="6382512" y="2240280"/>
            <a:ext cx="2148840" cy="2926080"/>
          </a:xfrm>
          <a:prstGeom prst="rect">
            <a:avLst/>
          </a:prstGeom>
          <a:noFill/>
        </p:spPr>
        <p:txBody>
          <a:bodyPr wrap="square">
            <a:spAutoFit/>
          </a:bodyPr>
          <a:lstStyle/>
          <a:p>
            <a:pPr>
              <a:defRPr sz="1100">
                <a:solidFill>
                  <a:srgbClr val="0F172A"/>
                </a:solidFill>
                <a:latin typeface="Arial"/>
              </a:defRPr>
            </a:pPr>
            <a:r>
              <a:t>• Substrate purity &amp; cosolvents</a:t>
            </a:r>
          </a:p>
          <a:p>
            <a:pPr>
              <a:defRPr sz="1100">
                <a:solidFill>
                  <a:srgbClr val="0F172A"/>
                </a:solidFill>
                <a:latin typeface="Arial"/>
              </a:defRPr>
            </a:pPr>
            <a:r>
              <a:t>• Metal cofactors &amp; chelators (EDTA/EGTA)</a:t>
            </a:r>
          </a:p>
          <a:p>
            <a:pPr>
              <a:defRPr sz="1100">
                <a:solidFill>
                  <a:srgbClr val="0F172A"/>
                </a:solidFill>
                <a:latin typeface="Arial"/>
              </a:defRPr>
            </a:pPr>
            <a:r>
              <a:t>• Reducing agents (DTT, BME, TCEP)</a:t>
            </a:r>
          </a:p>
          <a:p>
            <a:pPr>
              <a:defRPr sz="1100">
                <a:solidFill>
                  <a:srgbClr val="0F172A"/>
                </a:solidFill>
                <a:latin typeface="Arial"/>
              </a:defRPr>
            </a:pPr>
            <a:r>
              <a:t>• Stabilizers (BSA, glycerol, detergents)</a:t>
            </a:r>
          </a:p>
        </p:txBody>
      </p:sp>
      <p:sp>
        <p:nvSpPr>
          <p:cNvPr id="17" name="Rounded Rectangle 16"/>
          <p:cNvSpPr/>
          <p:nvPr/>
        </p:nvSpPr>
        <p:spPr>
          <a:xfrm>
            <a:off x="8933688" y="1463040"/>
            <a:ext cx="2514600" cy="39319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933688" y="1463040"/>
            <a:ext cx="2514600" cy="7315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16568" y="1691640"/>
            <a:ext cx="2148840" cy="548640"/>
          </a:xfrm>
          <a:prstGeom prst="rect">
            <a:avLst/>
          </a:prstGeom>
          <a:noFill/>
        </p:spPr>
        <p:txBody>
          <a:bodyPr wrap="none">
            <a:spAutoFit/>
          </a:bodyPr>
          <a:lstStyle/>
          <a:p>
            <a:pPr>
              <a:defRPr sz="1300" b="1">
                <a:solidFill>
                  <a:srgbClr val="0F172A"/>
                </a:solidFill>
                <a:latin typeface="Arial"/>
              </a:defRPr>
            </a:pPr>
            <a:r>
              <a:t>04. Protocols &amp; QC</a:t>
            </a:r>
          </a:p>
        </p:txBody>
      </p:sp>
      <p:sp>
        <p:nvSpPr>
          <p:cNvPr id="20" name="TextBox 19"/>
          <p:cNvSpPr txBox="1"/>
          <p:nvPr/>
        </p:nvSpPr>
        <p:spPr>
          <a:xfrm>
            <a:off x="9116568" y="2240280"/>
            <a:ext cx="2148840" cy="2926080"/>
          </a:xfrm>
          <a:prstGeom prst="rect">
            <a:avLst/>
          </a:prstGeom>
          <a:noFill/>
        </p:spPr>
        <p:txBody>
          <a:bodyPr wrap="square">
            <a:spAutoFit/>
          </a:bodyPr>
          <a:lstStyle/>
          <a:p>
            <a:pPr>
              <a:defRPr sz="1100">
                <a:solidFill>
                  <a:srgbClr val="0F172A"/>
                </a:solidFill>
                <a:latin typeface="Arial"/>
              </a:defRPr>
            </a:pPr>
            <a:r>
              <a:t>• 6-step SOP for buffer formulation</a:t>
            </a:r>
          </a:p>
          <a:p>
            <a:pPr>
              <a:defRPr sz="1100">
                <a:solidFill>
                  <a:srgbClr val="0F172A"/>
                </a:solidFill>
                <a:latin typeface="Arial"/>
              </a:defRPr>
            </a:pPr>
            <a:r>
              <a:t>• Quantitative calculations (Molarity, C1V1)</a:t>
            </a:r>
          </a:p>
          <a:p>
            <a:pPr>
              <a:defRPr sz="1100">
                <a:solidFill>
                  <a:srgbClr val="0F172A"/>
                </a:solidFill>
                <a:latin typeface="Arial"/>
              </a:defRPr>
            </a:pPr>
            <a:r>
              <a:t>• Three benchmark assay protocols</a:t>
            </a:r>
          </a:p>
          <a:p>
            <a:pPr>
              <a:defRPr sz="1100">
                <a:solidFill>
                  <a:srgbClr val="0F172A"/>
                </a:solidFill>
                <a:latin typeface="Arial"/>
              </a:defRPr>
            </a:pPr>
            <a:r>
              <a:t>• Troubleshooting &amp; Quality Gates</a:t>
            </a:r>
          </a:p>
        </p:txBody>
      </p:sp>
      <p:sp>
        <p:nvSpPr>
          <p:cNvPr id="21" name="Rounded Rectangle 20"/>
          <p:cNvSpPr/>
          <p:nvPr/>
        </p:nvSpPr>
        <p:spPr>
          <a:xfrm>
            <a:off x="731520" y="5623560"/>
            <a:ext cx="10698480" cy="777240"/>
          </a:xfrm>
          <a:prstGeom prst="roundRect">
            <a:avLst/>
          </a:prstGeom>
          <a:solidFill>
            <a:srgbClr val="EFF6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5715000"/>
            <a:ext cx="10332720" cy="594360"/>
          </a:xfrm>
          <a:prstGeom prst="rect">
            <a:avLst/>
          </a:prstGeom>
          <a:noFill/>
        </p:spPr>
        <p:txBody>
          <a:bodyPr wrap="square">
            <a:spAutoFit/>
          </a:bodyPr>
          <a:lstStyle/>
          <a:p>
            <a:pPr>
              <a:defRPr sz="1100" b="1">
                <a:solidFill>
                  <a:srgbClr val="2563EB"/>
                </a:solidFill>
                <a:latin typeface="Arial"/>
              </a:defRPr>
            </a:pPr>
            <a:r>
              <a:t>Core Thesis: Enzyme assays measure microscopic velocity under strictly controlled macroscopic conditions. A deviation of 0.2 pH units or trace metal precipitation can compromise Vmax or Km by over 50%.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lIns="0" rIns="0" tIns="0" bIns="0">
            <a:spAutoFit/>
          </a:bodyPr>
          <a:lstStyle/>
          <a:p>
            <a:pPr>
              <a:defRPr sz="1000" b="1">
                <a:solidFill>
                  <a:srgbClr val="0D9488"/>
                </a:solidFill>
                <a:latin typeface="Arial"/>
              </a:defRPr>
            </a:pPr>
            <a:r>
              <a:t>ENZYME KINETICS &amp; THERMODYNAMICS</a:t>
            </a:r>
          </a:p>
        </p:txBody>
      </p:sp>
      <p:sp>
        <p:nvSpPr>
          <p:cNvPr id="4" name="TextBox 3"/>
          <p:cNvSpPr txBox="1"/>
          <p:nvPr/>
        </p:nvSpPr>
        <p:spPr>
          <a:xfrm>
            <a:off x="731520" y="685800"/>
            <a:ext cx="10698480" cy="594360"/>
          </a:xfrm>
          <a:prstGeom prst="rect">
            <a:avLst/>
          </a:prstGeom>
          <a:noFill/>
        </p:spPr>
        <p:txBody>
          <a:bodyPr wrap="square" lIns="0" rIns="0" tIns="0" bIns="0">
            <a:spAutoFit/>
          </a:bodyPr>
          <a:lstStyle/>
          <a:p>
            <a:pPr>
              <a:defRPr sz="2200" b="1">
                <a:solidFill>
                  <a:srgbClr val="0F172A"/>
                </a:solidFill>
                <a:latin typeface="Arial"/>
              </a:defRPr>
            </a:pPr>
            <a:r>
              <a:t>The Enzyme Microenvironment: Why Buffers Dictate Catalysis</a:t>
            </a:r>
          </a:p>
        </p:txBody>
      </p:sp>
      <p:sp>
        <p:nvSpPr>
          <p:cNvPr id="5" name="Rounded Rectangle 4"/>
          <p:cNvSpPr/>
          <p:nvPr/>
        </p:nvSpPr>
        <p:spPr>
          <a:xfrm>
            <a:off x="731520" y="1463040"/>
            <a:ext cx="3429000" cy="35661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3063240" cy="548640"/>
          </a:xfrm>
          <a:prstGeom prst="rect">
            <a:avLst/>
          </a:prstGeom>
          <a:noFill/>
        </p:spPr>
        <p:txBody>
          <a:bodyPr wrap="none">
            <a:spAutoFit/>
          </a:bodyPr>
          <a:lstStyle/>
          <a:p>
            <a:pPr>
              <a:defRPr sz="1400" b="1">
                <a:solidFill>
                  <a:srgbClr val="2563EB"/>
                </a:solidFill>
                <a:latin typeface="Arial"/>
              </a:defRPr>
            </a:pPr>
            <a:r>
              <a:t>1. Active Site Ionization</a:t>
            </a:r>
          </a:p>
        </p:txBody>
      </p:sp>
      <p:sp>
        <p:nvSpPr>
          <p:cNvPr id="7" name="TextBox 6"/>
          <p:cNvSpPr txBox="1"/>
          <p:nvPr/>
        </p:nvSpPr>
        <p:spPr>
          <a:xfrm>
            <a:off x="914400" y="2194560"/>
            <a:ext cx="3063240" cy="2651760"/>
          </a:xfrm>
          <a:prstGeom prst="rect">
            <a:avLst/>
          </a:prstGeom>
          <a:noFill/>
        </p:spPr>
        <p:txBody>
          <a:bodyPr wrap="square">
            <a:spAutoFit/>
          </a:bodyPr>
          <a:lstStyle/>
          <a:p>
            <a:pPr>
              <a:defRPr sz="1100">
                <a:solidFill>
                  <a:srgbClr val="0F172A"/>
                </a:solidFill>
                <a:latin typeface="Arial"/>
              </a:defRPr>
            </a:pPr>
            <a:r>
              <a:t>Catalytic amino acid side chains (His, Cys, Asp, Glu, Lys) act as general acids or general bases.</a:t>
            </a:r>
          </a:p>
          <a:p>
            <a:pPr>
              <a:defRPr sz="1100">
                <a:solidFill>
                  <a:srgbClr val="0F172A"/>
                </a:solidFill>
                <a:latin typeface="Arial"/>
              </a:defRPr>
            </a:pPr>
          </a:p>
          <a:p>
            <a:pPr>
              <a:defRPr sz="1100">
                <a:solidFill>
                  <a:srgbClr val="0F172A"/>
                </a:solidFill>
                <a:latin typeface="Arial"/>
              </a:defRPr>
            </a:pPr>
            <a:r>
              <a:t>• Nucleophiles (e.g., Cys-SH, Ser-OH) require specific deprotonation states.</a:t>
            </a:r>
          </a:p>
          <a:p>
            <a:pPr>
              <a:defRPr sz="1100">
                <a:solidFill>
                  <a:srgbClr val="0F172A"/>
                </a:solidFill>
                <a:latin typeface="Arial"/>
              </a:defRPr>
            </a:pPr>
            <a:r>
              <a:t>• Acid catalysts (e.g., Glu-COOH) must remain protonated.</a:t>
            </a:r>
          </a:p>
          <a:p>
            <a:pPr>
              <a:defRPr sz="1100">
                <a:solidFill>
                  <a:srgbClr val="0F172A"/>
                </a:solidFill>
                <a:latin typeface="Arial"/>
              </a:defRPr>
            </a:pPr>
            <a:r>
              <a:t>• Shift in pH changes the ionization fraction, directly collapsing catalytic turnover (kcat).</a:t>
            </a:r>
          </a:p>
        </p:txBody>
      </p:sp>
      <p:sp>
        <p:nvSpPr>
          <p:cNvPr id="8" name="Rounded Rectangle 7"/>
          <p:cNvSpPr/>
          <p:nvPr/>
        </p:nvSpPr>
        <p:spPr>
          <a:xfrm>
            <a:off x="4343400" y="1463040"/>
            <a:ext cx="3429000" cy="35661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1645920"/>
            <a:ext cx="3063240" cy="548640"/>
          </a:xfrm>
          <a:prstGeom prst="rect">
            <a:avLst/>
          </a:prstGeom>
          <a:noFill/>
        </p:spPr>
        <p:txBody>
          <a:bodyPr wrap="none">
            <a:spAutoFit/>
          </a:bodyPr>
          <a:lstStyle/>
          <a:p>
            <a:pPr>
              <a:defRPr sz="1400" b="1">
                <a:solidFill>
                  <a:srgbClr val="2563EB"/>
                </a:solidFill>
                <a:latin typeface="Arial"/>
              </a:defRPr>
            </a:pPr>
            <a:r>
              <a:t>2. Tertiary Structure &amp; Folding</a:t>
            </a:r>
          </a:p>
        </p:txBody>
      </p:sp>
      <p:sp>
        <p:nvSpPr>
          <p:cNvPr id="10" name="TextBox 9"/>
          <p:cNvSpPr txBox="1"/>
          <p:nvPr/>
        </p:nvSpPr>
        <p:spPr>
          <a:xfrm>
            <a:off x="4526280" y="2194560"/>
            <a:ext cx="3063240" cy="2651760"/>
          </a:xfrm>
          <a:prstGeom prst="rect">
            <a:avLst/>
          </a:prstGeom>
          <a:noFill/>
        </p:spPr>
        <p:txBody>
          <a:bodyPr wrap="square">
            <a:spAutoFit/>
          </a:bodyPr>
          <a:lstStyle/>
          <a:p>
            <a:pPr>
              <a:defRPr sz="1100">
                <a:solidFill>
                  <a:srgbClr val="0F172A"/>
                </a:solidFill>
                <a:latin typeface="Arial"/>
              </a:defRPr>
            </a:pPr>
            <a:r>
              <a:t>Proteins are stabilized by delicate electrostatic salt bridges, hydrogen bonds, and hydrophobic cores.</a:t>
            </a:r>
          </a:p>
          <a:p>
            <a:pPr>
              <a:defRPr sz="1100">
                <a:solidFill>
                  <a:srgbClr val="0F172A"/>
                </a:solidFill>
                <a:latin typeface="Arial"/>
              </a:defRPr>
            </a:pPr>
          </a:p>
          <a:p>
            <a:pPr>
              <a:defRPr sz="1100">
                <a:solidFill>
                  <a:srgbClr val="0F172A"/>
                </a:solidFill>
                <a:latin typeface="Arial"/>
              </a:defRPr>
            </a:pPr>
            <a:r>
              <a:t>• Non-optimal pH alters net surface charge, inducing structural unfolding or aggregation.</a:t>
            </a:r>
          </a:p>
          <a:p>
            <a:pPr>
              <a:defRPr sz="1100">
                <a:solidFill>
                  <a:srgbClr val="0F172A"/>
                </a:solidFill>
                <a:latin typeface="Arial"/>
              </a:defRPr>
            </a:pPr>
            <a:r>
              <a:t>• Extremes of pH completely denature the quaternary assembly of multimeric enzymes.</a:t>
            </a:r>
          </a:p>
        </p:txBody>
      </p:sp>
      <p:sp>
        <p:nvSpPr>
          <p:cNvPr id="11" name="Rounded Rectangle 10"/>
          <p:cNvSpPr/>
          <p:nvPr/>
        </p:nvSpPr>
        <p:spPr>
          <a:xfrm>
            <a:off x="7955280" y="1463040"/>
            <a:ext cx="3429000" cy="35661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38160" y="1645920"/>
            <a:ext cx="3063240" cy="548640"/>
          </a:xfrm>
          <a:prstGeom prst="rect">
            <a:avLst/>
          </a:prstGeom>
          <a:noFill/>
        </p:spPr>
        <p:txBody>
          <a:bodyPr wrap="none">
            <a:spAutoFit/>
          </a:bodyPr>
          <a:lstStyle/>
          <a:p>
            <a:pPr>
              <a:defRPr sz="1400" b="1">
                <a:solidFill>
                  <a:srgbClr val="2563EB"/>
                </a:solidFill>
                <a:latin typeface="Arial"/>
              </a:defRPr>
            </a:pPr>
            <a:r>
              <a:t>3. Substrate Ionization &amp; Binding</a:t>
            </a:r>
          </a:p>
        </p:txBody>
      </p:sp>
      <p:sp>
        <p:nvSpPr>
          <p:cNvPr id="13" name="TextBox 12"/>
          <p:cNvSpPr txBox="1"/>
          <p:nvPr/>
        </p:nvSpPr>
        <p:spPr>
          <a:xfrm>
            <a:off x="8138160" y="2194560"/>
            <a:ext cx="3063240" cy="2651760"/>
          </a:xfrm>
          <a:prstGeom prst="rect">
            <a:avLst/>
          </a:prstGeom>
          <a:noFill/>
        </p:spPr>
        <p:txBody>
          <a:bodyPr wrap="square">
            <a:spAutoFit/>
          </a:bodyPr>
          <a:lstStyle/>
          <a:p>
            <a:pPr>
              <a:defRPr sz="1100">
                <a:solidFill>
                  <a:srgbClr val="0F172A"/>
                </a:solidFill>
                <a:latin typeface="Arial"/>
              </a:defRPr>
            </a:pPr>
            <a:r>
              <a:t>Many substrates possess ionizable functional groups (e.g., ATP with 4 negative charges at neutral pH, phosphate esters, carboxylic acids).</a:t>
            </a:r>
          </a:p>
          <a:p>
            <a:pPr>
              <a:defRPr sz="1100">
                <a:solidFill>
                  <a:srgbClr val="0F172A"/>
                </a:solidFill>
                <a:latin typeface="Arial"/>
              </a:defRPr>
            </a:pPr>
          </a:p>
          <a:p>
            <a:pPr>
              <a:defRPr sz="1100">
                <a:solidFill>
                  <a:srgbClr val="0F172A"/>
                </a:solidFill>
                <a:latin typeface="Arial"/>
              </a:defRPr>
            </a:pPr>
            <a:r>
              <a:t>• Both enzyme binding pocket and substrate must maintain complementary charges.</a:t>
            </a:r>
          </a:p>
          <a:p>
            <a:pPr>
              <a:defRPr sz="1100">
                <a:solidFill>
                  <a:srgbClr val="0F172A"/>
                </a:solidFill>
                <a:latin typeface="Arial"/>
              </a:defRPr>
            </a:pPr>
            <a:r>
              <a:t>• Altered pH changes Km (apparent affinity) independently of enzyme denaturation.</a:t>
            </a:r>
          </a:p>
        </p:txBody>
      </p:sp>
      <p:sp>
        <p:nvSpPr>
          <p:cNvPr id="14" name="Rounded Rectangle 13"/>
          <p:cNvSpPr/>
          <p:nvPr/>
        </p:nvSpPr>
        <p:spPr>
          <a:xfrm>
            <a:off x="731520" y="5212080"/>
            <a:ext cx="10698480" cy="1188720"/>
          </a:xfrm>
          <a:prstGeom prst="roundRect">
            <a:avLst/>
          </a:prstGeom>
          <a:solidFill>
            <a:srgbClr val="CCFBF1"/>
          </a:solidFill>
          <a:ln w="1524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303520"/>
            <a:ext cx="10332720" cy="1005840"/>
          </a:xfrm>
          <a:prstGeom prst="rect">
            <a:avLst/>
          </a:prstGeom>
          <a:noFill/>
        </p:spPr>
        <p:txBody>
          <a:bodyPr wrap="square">
            <a:spAutoFit/>
          </a:bodyPr>
          <a:lstStyle/>
          <a:p>
            <a:pPr>
              <a:defRPr sz="1200" b="1">
                <a:solidFill>
                  <a:srgbClr val="0D9488"/>
                </a:solidFill>
                <a:latin typeface="Arial"/>
              </a:defRPr>
            </a:pPr>
            <a:r>
              <a:t>The Bell-Shaped pH-Activity Profile:</a:t>
            </a:r>
          </a:p>
          <a:p>
            <a:pPr>
              <a:defRPr sz="1100">
                <a:solidFill>
                  <a:srgbClr val="0F172A"/>
                </a:solidFill>
                <a:latin typeface="Arial"/>
              </a:defRPr>
            </a:pPr>
            <a:r>
              <a:t>Most enzymes exhibit a bell-shaped activity curve defined by two ionizing residues: pKa1 (acidic limb, deprotonation needed for activity) and pKa2 (basic limb, protonation needed for activity). Maximum velocity (Vmax) occurs at the optimum pH (pHopt = 0.5 * (pKa1 + pKa2)). Buffers must maintain pH within ±0.05 units of this plateau.</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lIns="0" rIns="0" tIns="0" bIns="0">
            <a:spAutoFit/>
          </a:bodyPr>
          <a:lstStyle/>
          <a:p>
            <a:pPr>
              <a:defRPr sz="1000" b="1">
                <a:solidFill>
                  <a:srgbClr val="0D9488"/>
                </a:solidFill>
                <a:latin typeface="Arial"/>
              </a:defRPr>
            </a:pPr>
            <a:r>
              <a:t>PHYSICAL BIOCHEMISTRY</a:t>
            </a:r>
          </a:p>
        </p:txBody>
      </p:sp>
      <p:sp>
        <p:nvSpPr>
          <p:cNvPr id="4" name="TextBox 3"/>
          <p:cNvSpPr txBox="1"/>
          <p:nvPr/>
        </p:nvSpPr>
        <p:spPr>
          <a:xfrm>
            <a:off x="731520" y="685800"/>
            <a:ext cx="10698480" cy="594360"/>
          </a:xfrm>
          <a:prstGeom prst="rect">
            <a:avLst/>
          </a:prstGeom>
          <a:noFill/>
        </p:spPr>
        <p:txBody>
          <a:bodyPr wrap="square" lIns="0" rIns="0" tIns="0" bIns="0">
            <a:spAutoFit/>
          </a:bodyPr>
          <a:lstStyle/>
          <a:p>
            <a:pPr>
              <a:defRPr sz="2200" b="1">
                <a:solidFill>
                  <a:srgbClr val="0F172A"/>
                </a:solidFill>
                <a:latin typeface="Arial"/>
              </a:defRPr>
            </a:pPr>
            <a:r>
              <a:t>Theoretical Foundations: Henderson-Hasselbalch &amp; Buffering Capacity</a:t>
            </a:r>
          </a:p>
        </p:txBody>
      </p:sp>
      <p:sp>
        <p:nvSpPr>
          <p:cNvPr id="5" name="Rounded Rectangle 4"/>
          <p:cNvSpPr/>
          <p:nvPr/>
        </p:nvSpPr>
        <p:spPr>
          <a:xfrm>
            <a:off x="731520" y="1463040"/>
            <a:ext cx="521208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4846320" cy="457200"/>
          </a:xfrm>
          <a:prstGeom prst="rect">
            <a:avLst/>
          </a:prstGeom>
          <a:noFill/>
        </p:spPr>
        <p:txBody>
          <a:bodyPr wrap="none">
            <a:spAutoFit/>
          </a:bodyPr>
          <a:lstStyle/>
          <a:p>
            <a:pPr>
              <a:defRPr sz="1400" b="1">
                <a:solidFill>
                  <a:srgbClr val="2563EB"/>
                </a:solidFill>
                <a:latin typeface="Arial"/>
              </a:defRPr>
            </a:pPr>
            <a:r>
              <a:t>1. Henderson-Hasselbalch &amp; Buffer Capacity</a:t>
            </a:r>
          </a:p>
        </p:txBody>
      </p:sp>
      <p:sp>
        <p:nvSpPr>
          <p:cNvPr id="7" name="TextBox 6"/>
          <p:cNvSpPr txBox="1"/>
          <p:nvPr/>
        </p:nvSpPr>
        <p:spPr>
          <a:xfrm>
            <a:off x="914400" y="2103120"/>
            <a:ext cx="4846320" cy="4023360"/>
          </a:xfrm>
          <a:prstGeom prst="rect">
            <a:avLst/>
          </a:prstGeom>
          <a:noFill/>
        </p:spPr>
        <p:txBody>
          <a:bodyPr wrap="square">
            <a:spAutoFit/>
          </a:bodyPr>
          <a:lstStyle/>
          <a:p>
            <a:pPr>
              <a:defRPr sz="1100">
                <a:solidFill>
                  <a:srgbClr val="0F172A"/>
                </a:solidFill>
                <a:latin typeface="Arial"/>
              </a:defRPr>
            </a:pPr>
            <a:r>
              <a:t>• The Fundamental Equation:</a:t>
            </a:r>
          </a:p>
          <a:p>
            <a:pPr>
              <a:defRPr sz="1100">
                <a:solidFill>
                  <a:srgbClr val="0F172A"/>
                </a:solidFill>
                <a:latin typeface="Arial"/>
              </a:defRPr>
            </a:pPr>
            <a:r>
              <a:t>  pH = pKa + log([A-] / [HA])</a:t>
            </a:r>
          </a:p>
          <a:p>
            <a:pPr>
              <a:defRPr sz="1100">
                <a:solidFill>
                  <a:srgbClr val="0F172A"/>
                </a:solidFill>
                <a:latin typeface="Arial"/>
              </a:defRPr>
            </a:pPr>
            <a:r>
              <a:t>  Where [A-] is the conjugate base and [HA] is the weak acid.</a:t>
            </a:r>
          </a:p>
          <a:p>
            <a:pPr>
              <a:defRPr sz="1100">
                <a:solidFill>
                  <a:srgbClr val="0F172A"/>
                </a:solidFill>
                <a:latin typeface="Arial"/>
              </a:defRPr>
            </a:pPr>
          </a:p>
          <a:p>
            <a:pPr>
              <a:defRPr sz="1100">
                <a:solidFill>
                  <a:srgbClr val="0F172A"/>
                </a:solidFill>
                <a:latin typeface="Arial"/>
              </a:defRPr>
            </a:pPr>
            <a:r>
              <a:t>• Van Slyke Buffering Capacity (beta):</a:t>
            </a:r>
          </a:p>
          <a:p>
            <a:pPr>
              <a:defRPr sz="1100">
                <a:solidFill>
                  <a:srgbClr val="0F172A"/>
                </a:solidFill>
                <a:latin typeface="Arial"/>
              </a:defRPr>
            </a:pPr>
            <a:r>
              <a:t>  beta = dB / dpH = 2.303 * C * ([H+] * Ka) / ([H+] + Ka)^2</a:t>
            </a:r>
          </a:p>
          <a:p>
            <a:pPr>
              <a:defRPr sz="1100">
                <a:solidFill>
                  <a:srgbClr val="0F172A"/>
                </a:solidFill>
                <a:latin typeface="Arial"/>
              </a:defRPr>
            </a:pPr>
            <a:r>
              <a:t>  Where C is the total buffer concentration ([HA] + [A-]).</a:t>
            </a:r>
          </a:p>
          <a:p>
            <a:pPr>
              <a:defRPr sz="1100">
                <a:solidFill>
                  <a:srgbClr val="0F172A"/>
                </a:solidFill>
                <a:latin typeface="Arial"/>
              </a:defRPr>
            </a:pPr>
          </a:p>
          <a:p>
            <a:pPr>
              <a:defRPr sz="1100">
                <a:solidFill>
                  <a:srgbClr val="0F172A"/>
                </a:solidFill>
                <a:latin typeface="Arial"/>
              </a:defRPr>
            </a:pPr>
            <a:r>
              <a:t>• The Practical Buffering Rule:</a:t>
            </a:r>
          </a:p>
          <a:p>
            <a:pPr>
              <a:defRPr sz="1100">
                <a:solidFill>
                  <a:srgbClr val="0F172A"/>
                </a:solidFill>
                <a:latin typeface="Arial"/>
              </a:defRPr>
            </a:pPr>
            <a:r>
              <a:t>  Buffering capacity is maximal when pH = pKa (where [A-] = [HA]).</a:t>
            </a:r>
          </a:p>
          <a:p>
            <a:pPr>
              <a:defRPr sz="1100">
                <a:solidFill>
                  <a:srgbClr val="0F172A"/>
                </a:solidFill>
                <a:latin typeface="Arial"/>
              </a:defRPr>
            </a:pPr>
            <a:r>
              <a:t>  A buffer is ONLY effective within pH = pKa ± 1.0 (ideally ± 0.5).</a:t>
            </a:r>
          </a:p>
          <a:p>
            <a:pPr>
              <a:defRPr sz="1100">
                <a:solidFill>
                  <a:srgbClr val="0F172A"/>
                </a:solidFill>
                <a:latin typeface="Arial"/>
              </a:defRPr>
            </a:pPr>
            <a:r>
              <a:t>  Outside this window, adding minute amounts of acid/base causes drastic pH spikes.</a:t>
            </a:r>
          </a:p>
        </p:txBody>
      </p:sp>
      <p:sp>
        <p:nvSpPr>
          <p:cNvPr id="8" name="Rounded Rectangle 7"/>
          <p:cNvSpPr/>
          <p:nvPr/>
        </p:nvSpPr>
        <p:spPr>
          <a:xfrm>
            <a:off x="6217920" y="1463040"/>
            <a:ext cx="521208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645920"/>
            <a:ext cx="4846320" cy="457200"/>
          </a:xfrm>
          <a:prstGeom prst="rect">
            <a:avLst/>
          </a:prstGeom>
          <a:noFill/>
        </p:spPr>
        <p:txBody>
          <a:bodyPr wrap="none">
            <a:spAutoFit/>
          </a:bodyPr>
          <a:lstStyle/>
          <a:p>
            <a:pPr>
              <a:defRPr sz="1400" b="1">
                <a:solidFill>
                  <a:srgbClr val="D97706"/>
                </a:solidFill>
                <a:latin typeface="Arial"/>
              </a:defRPr>
            </a:pPr>
            <a:r>
              <a:t>2. The Temperature Coefficient (dpKa / dT)</a:t>
            </a:r>
          </a:p>
        </p:txBody>
      </p:sp>
      <p:sp>
        <p:nvSpPr>
          <p:cNvPr id="10" name="TextBox 9"/>
          <p:cNvSpPr txBox="1"/>
          <p:nvPr/>
        </p:nvSpPr>
        <p:spPr>
          <a:xfrm>
            <a:off x="6400800" y="2103120"/>
            <a:ext cx="4846320" cy="4023360"/>
          </a:xfrm>
          <a:prstGeom prst="rect">
            <a:avLst/>
          </a:prstGeom>
          <a:noFill/>
        </p:spPr>
        <p:txBody>
          <a:bodyPr wrap="square">
            <a:spAutoFit/>
          </a:bodyPr>
          <a:lstStyle/>
          <a:p>
            <a:pPr>
              <a:defRPr sz="1100">
                <a:solidFill>
                  <a:srgbClr val="0F172A"/>
                </a:solidFill>
                <a:latin typeface="Arial"/>
              </a:defRPr>
            </a:pPr>
            <a:r>
              <a:t>• Temperature-Induced Dissociation:</a:t>
            </a:r>
          </a:p>
          <a:p>
            <a:pPr>
              <a:defRPr sz="1100">
                <a:solidFill>
                  <a:srgbClr val="0F172A"/>
                </a:solidFill>
                <a:latin typeface="Arial"/>
              </a:defRPr>
            </a:pPr>
            <a:r>
              <a:t>  Buffer pKa is a thermodynamic equilibrium constant (Delta G° = -RT ln Ka).</a:t>
            </a:r>
          </a:p>
          <a:p>
            <a:pPr>
              <a:defRPr sz="1100">
                <a:solidFill>
                  <a:srgbClr val="0F172A"/>
                </a:solidFill>
                <a:latin typeface="Arial"/>
              </a:defRPr>
            </a:pPr>
            <a:r>
              <a:t>  As temperature changes, ionization enthalpy alters pKa.</a:t>
            </a:r>
          </a:p>
          <a:p>
            <a:pPr>
              <a:defRPr sz="1100">
                <a:solidFill>
                  <a:srgbClr val="0F172A"/>
                </a:solidFill>
                <a:latin typeface="Arial"/>
              </a:defRPr>
            </a:pPr>
          </a:p>
          <a:p>
            <a:pPr>
              <a:defRPr sz="1100">
                <a:solidFill>
                  <a:srgbClr val="0F172A"/>
                </a:solidFill>
                <a:latin typeface="Arial"/>
              </a:defRPr>
            </a:pPr>
            <a:r>
              <a:t>• The Tris Buffer Hazard (dpKa/dT = -0.028 / °C):</a:t>
            </a:r>
          </a:p>
          <a:p>
            <a:pPr>
              <a:defRPr sz="1100">
                <a:solidFill>
                  <a:srgbClr val="0F172A"/>
                </a:solidFill>
                <a:latin typeface="Arial"/>
              </a:defRPr>
            </a:pPr>
            <a:r>
              <a:t>  If you prepare Tris-HCl at pH 7.50 at room temperature (25°C):</a:t>
            </a:r>
          </a:p>
          <a:p>
            <a:pPr>
              <a:defRPr sz="1100">
                <a:solidFill>
                  <a:srgbClr val="0F172A"/>
                </a:solidFill>
                <a:latin typeface="Arial"/>
              </a:defRPr>
            </a:pPr>
            <a:r>
              <a:t>  Delta T = 37°C - 25°C = +12°C</a:t>
            </a:r>
          </a:p>
          <a:p>
            <a:pPr>
              <a:defRPr sz="1100">
                <a:solidFill>
                  <a:srgbClr val="0F172A"/>
                </a:solidFill>
                <a:latin typeface="Arial"/>
              </a:defRPr>
            </a:pPr>
            <a:r>
              <a:t>  Delta pH = 12 * (-0.028) = -0.34 pH units!</a:t>
            </a:r>
          </a:p>
          <a:p>
            <a:pPr>
              <a:defRPr sz="1100">
                <a:solidFill>
                  <a:srgbClr val="0F172A"/>
                </a:solidFill>
                <a:latin typeface="Arial"/>
              </a:defRPr>
            </a:pPr>
            <a:r>
              <a:t>  In your 37°C incubator, the assay pH is 7.16, NOT 7.50!</a:t>
            </a:r>
          </a:p>
          <a:p>
            <a:pPr>
              <a:defRPr sz="1100">
                <a:solidFill>
                  <a:srgbClr val="0F172A"/>
                </a:solidFill>
                <a:latin typeface="Arial"/>
              </a:defRPr>
            </a:pPr>
          </a:p>
          <a:p>
            <a:pPr>
              <a:defRPr sz="1100">
                <a:solidFill>
                  <a:srgbClr val="0F172A"/>
                </a:solidFill>
                <a:latin typeface="Arial"/>
              </a:defRPr>
            </a:pPr>
            <a:r>
              <a:t>• Golden Standard in Enzymology:</a:t>
            </a:r>
          </a:p>
          <a:p>
            <a:pPr>
              <a:defRPr sz="1100">
                <a:solidFill>
                  <a:srgbClr val="0F172A"/>
                </a:solidFill>
                <a:latin typeface="Arial"/>
              </a:defRPr>
            </a:pPr>
            <a:r>
              <a:t>  Always calibrate the pH meter and adjust final pH at the EXACT operating temperature of the enzyme assay.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lIns="0" rIns="0" tIns="0" bIns="0">
            <a:spAutoFit/>
          </a:bodyPr>
          <a:lstStyle/>
          <a:p>
            <a:pPr>
              <a:defRPr sz="1000" b="1">
                <a:solidFill>
                  <a:srgbClr val="0D9488"/>
                </a:solidFill>
                <a:latin typeface="Arial"/>
              </a:defRPr>
            </a:pPr>
            <a:r>
              <a:t>REAGENT SELECTION</a:t>
            </a:r>
          </a:p>
        </p:txBody>
      </p:sp>
      <p:sp>
        <p:nvSpPr>
          <p:cNvPr id="4" name="TextBox 3"/>
          <p:cNvSpPr txBox="1"/>
          <p:nvPr/>
        </p:nvSpPr>
        <p:spPr>
          <a:xfrm>
            <a:off x="731520" y="685800"/>
            <a:ext cx="10698480" cy="594360"/>
          </a:xfrm>
          <a:prstGeom prst="rect">
            <a:avLst/>
          </a:prstGeom>
          <a:noFill/>
        </p:spPr>
        <p:txBody>
          <a:bodyPr wrap="square" lIns="0" rIns="0" tIns="0" bIns="0">
            <a:spAutoFit/>
          </a:bodyPr>
          <a:lstStyle/>
          <a:p>
            <a:pPr>
              <a:defRPr sz="2200" b="1">
                <a:solidFill>
                  <a:srgbClr val="0F172A"/>
                </a:solidFill>
                <a:latin typeface="Arial"/>
              </a:defRPr>
            </a:pPr>
            <a:r>
              <a:t>Buffer Selection: Traditional Inorganic Salts vs. Good's Buffers</a:t>
            </a:r>
          </a:p>
        </p:txBody>
      </p:sp>
      <p:sp>
        <p:nvSpPr>
          <p:cNvPr id="5" name="Rounded Rectangle 4"/>
          <p:cNvSpPr/>
          <p:nvPr/>
        </p:nvSpPr>
        <p:spPr>
          <a:xfrm>
            <a:off x="731520" y="1463040"/>
            <a:ext cx="521208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4846320" cy="457200"/>
          </a:xfrm>
          <a:prstGeom prst="rect">
            <a:avLst/>
          </a:prstGeom>
          <a:noFill/>
        </p:spPr>
        <p:txBody>
          <a:bodyPr wrap="none">
            <a:spAutoFit/>
          </a:bodyPr>
          <a:lstStyle/>
          <a:p>
            <a:pPr>
              <a:defRPr sz="1400" b="1">
                <a:solidFill>
                  <a:srgbClr val="0F172A"/>
                </a:solidFill>
                <a:latin typeface="Arial"/>
              </a:defRPr>
            </a:pPr>
            <a:r>
              <a:t>Traditional Buffers (Phosphate, Tris, Citrate)</a:t>
            </a:r>
          </a:p>
        </p:txBody>
      </p:sp>
      <p:sp>
        <p:nvSpPr>
          <p:cNvPr id="7" name="TextBox 6"/>
          <p:cNvSpPr txBox="1"/>
          <p:nvPr/>
        </p:nvSpPr>
        <p:spPr>
          <a:xfrm>
            <a:off x="914400" y="2103120"/>
            <a:ext cx="4846320" cy="4023360"/>
          </a:xfrm>
          <a:prstGeom prst="rect">
            <a:avLst/>
          </a:prstGeom>
          <a:noFill/>
        </p:spPr>
        <p:txBody>
          <a:bodyPr wrap="square">
            <a:spAutoFit/>
          </a:bodyPr>
          <a:lstStyle/>
          <a:p>
            <a:pPr>
              <a:defRPr sz="1100">
                <a:solidFill>
                  <a:srgbClr val="0F172A"/>
                </a:solidFill>
                <a:latin typeface="Arial"/>
              </a:defRPr>
            </a:pPr>
            <a:r>
              <a:t>• Phosphate Buffer (PBS / Na-K Phosphate):</a:t>
            </a:r>
          </a:p>
          <a:p>
            <a:pPr>
              <a:defRPr sz="1100">
                <a:solidFill>
                  <a:srgbClr val="0F172A"/>
                </a:solidFill>
                <a:latin typeface="Arial"/>
              </a:defRPr>
            </a:pPr>
            <a:r>
              <a:t>  - Pros: Highly physiological, inexpensive, low dpKa/dT (-0.0028/°C).</a:t>
            </a:r>
          </a:p>
          <a:p>
            <a:pPr>
              <a:defRPr sz="1100">
                <a:solidFill>
                  <a:srgbClr val="0F172A"/>
                </a:solidFill>
                <a:latin typeface="Arial"/>
              </a:defRPr>
            </a:pPr>
            <a:r>
              <a:t>  - Cons: Forms insoluble precipitates with divalent cations (Ca2+, Mg2+); acts as an inhibitor/substrate for kinases and phosphatases.</a:t>
            </a:r>
          </a:p>
          <a:p>
            <a:pPr>
              <a:defRPr sz="1100">
                <a:solidFill>
                  <a:srgbClr val="0F172A"/>
                </a:solidFill>
                <a:latin typeface="Arial"/>
              </a:defRPr>
            </a:pPr>
          </a:p>
          <a:p>
            <a:pPr>
              <a:defRPr sz="1100">
                <a:solidFill>
                  <a:srgbClr val="0F172A"/>
                </a:solidFill>
                <a:latin typeface="Arial"/>
              </a:defRPr>
            </a:pPr>
            <a:r>
              <a:t>• Tris Buffer (Tris(hydroxymethyl)aminomethane):</a:t>
            </a:r>
          </a:p>
          <a:p>
            <a:pPr>
              <a:defRPr sz="1100">
                <a:solidFill>
                  <a:srgbClr val="0F172A"/>
                </a:solidFill>
                <a:latin typeface="Arial"/>
              </a:defRPr>
            </a:pPr>
            <a:r>
              <a:t>  - Pros: Low cost, standard in molecular biology.</a:t>
            </a:r>
          </a:p>
          <a:p>
            <a:pPr>
              <a:defRPr sz="1100">
                <a:solidFill>
                  <a:srgbClr val="0F172A"/>
                </a:solidFill>
                <a:latin typeface="Arial"/>
              </a:defRPr>
            </a:pPr>
            <a:r>
              <a:t>  - Cons: High dpKa/dT (-0.028/°C); primary amine reacts with aldehydes, acylating reagents; cytotoxic at high concentrations.</a:t>
            </a:r>
          </a:p>
          <a:p>
            <a:pPr>
              <a:defRPr sz="1100">
                <a:solidFill>
                  <a:srgbClr val="0F172A"/>
                </a:solidFill>
                <a:latin typeface="Arial"/>
              </a:defRPr>
            </a:pPr>
          </a:p>
          <a:p>
            <a:pPr>
              <a:defRPr sz="1100">
                <a:solidFill>
                  <a:srgbClr val="0F172A"/>
                </a:solidFill>
                <a:latin typeface="Arial"/>
              </a:defRPr>
            </a:pPr>
            <a:r>
              <a:t>• Citrate &amp; Acetate Buffers:</a:t>
            </a:r>
          </a:p>
          <a:p>
            <a:pPr>
              <a:defRPr sz="1100">
                <a:solidFill>
                  <a:srgbClr val="0F172A"/>
                </a:solidFill>
                <a:latin typeface="Arial"/>
              </a:defRPr>
            </a:pPr>
            <a:r>
              <a:t>  - Pros: Effective in acidic range (pH 3.0–6.0).</a:t>
            </a:r>
          </a:p>
          <a:p>
            <a:pPr>
              <a:defRPr sz="1100">
                <a:solidFill>
                  <a:srgbClr val="0F172A"/>
                </a:solidFill>
                <a:latin typeface="Arial"/>
              </a:defRPr>
            </a:pPr>
            <a:r>
              <a:t>  - Cons: Citrate strongly chelates essential metal cofactors (Mg2+, Zn2+, Fe2+).</a:t>
            </a:r>
          </a:p>
        </p:txBody>
      </p:sp>
      <p:sp>
        <p:nvSpPr>
          <p:cNvPr id="8" name="Rounded Rectangle 7"/>
          <p:cNvSpPr/>
          <p:nvPr/>
        </p:nvSpPr>
        <p:spPr>
          <a:xfrm>
            <a:off x="6217920" y="1463040"/>
            <a:ext cx="5212080" cy="484632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645920"/>
            <a:ext cx="4846320" cy="457200"/>
          </a:xfrm>
          <a:prstGeom prst="rect">
            <a:avLst/>
          </a:prstGeom>
          <a:noFill/>
        </p:spPr>
        <p:txBody>
          <a:bodyPr wrap="none">
            <a:spAutoFit/>
          </a:bodyPr>
          <a:lstStyle/>
          <a:p>
            <a:pPr>
              <a:defRPr sz="1400" b="1">
                <a:solidFill>
                  <a:srgbClr val="2563EB"/>
                </a:solidFill>
                <a:latin typeface="Arial"/>
              </a:defRPr>
            </a:pPr>
            <a:r>
              <a:t>Good's Zwitterionic Buffers (HEPES, MOPS, PIPES)</a:t>
            </a:r>
          </a:p>
        </p:txBody>
      </p:sp>
      <p:sp>
        <p:nvSpPr>
          <p:cNvPr id="10" name="TextBox 9"/>
          <p:cNvSpPr txBox="1"/>
          <p:nvPr/>
        </p:nvSpPr>
        <p:spPr>
          <a:xfrm>
            <a:off x="6400800" y="2103120"/>
            <a:ext cx="4846320" cy="4023360"/>
          </a:xfrm>
          <a:prstGeom prst="rect">
            <a:avLst/>
          </a:prstGeom>
          <a:noFill/>
        </p:spPr>
        <p:txBody>
          <a:bodyPr wrap="square">
            <a:spAutoFit/>
          </a:bodyPr>
          <a:lstStyle/>
          <a:p>
            <a:pPr>
              <a:defRPr sz="1100">
                <a:solidFill>
                  <a:srgbClr val="0F172A"/>
                </a:solidFill>
                <a:latin typeface="Arial"/>
              </a:defRPr>
            </a:pPr>
            <a:r>
              <a:t>• Formulated by Dr. Norman Good (1966) for Biochemistry:</a:t>
            </a:r>
          </a:p>
          <a:p>
            <a:pPr>
              <a:defRPr sz="1100">
                <a:solidFill>
                  <a:srgbClr val="0F172A"/>
                </a:solidFill>
                <a:latin typeface="Arial"/>
              </a:defRPr>
            </a:pPr>
            <a:r>
              <a:t>  Engineered specifically to overcome the flaws of traditional salts.</a:t>
            </a:r>
          </a:p>
          <a:p>
            <a:pPr>
              <a:defRPr sz="1100">
                <a:solidFill>
                  <a:srgbClr val="0F172A"/>
                </a:solidFill>
                <a:latin typeface="Arial"/>
              </a:defRPr>
            </a:pPr>
          </a:p>
          <a:p>
            <a:pPr>
              <a:defRPr sz="1100">
                <a:solidFill>
                  <a:srgbClr val="0F172A"/>
                </a:solidFill>
                <a:latin typeface="Arial"/>
              </a:defRPr>
            </a:pPr>
            <a:r>
              <a:t>• The 6 Golden Criteria of Good's Buffers:</a:t>
            </a:r>
          </a:p>
          <a:p>
            <a:pPr>
              <a:defRPr sz="1100">
                <a:solidFill>
                  <a:srgbClr val="0F172A"/>
                </a:solidFill>
                <a:latin typeface="Arial"/>
              </a:defRPr>
            </a:pPr>
            <a:r>
              <a:t>  1. pKa between 6.0 and 8.0 (matches biological neutrality).</a:t>
            </a:r>
          </a:p>
          <a:p>
            <a:pPr>
              <a:defRPr sz="1100">
                <a:solidFill>
                  <a:srgbClr val="0F172A"/>
                </a:solidFill>
                <a:latin typeface="Arial"/>
              </a:defRPr>
            </a:pPr>
            <a:r>
              <a:t>  2. High water solubility &amp; low membrane permeability (zwitterionic).</a:t>
            </a:r>
          </a:p>
          <a:p>
            <a:pPr>
              <a:defRPr sz="1100">
                <a:solidFill>
                  <a:srgbClr val="0F172A"/>
                </a:solidFill>
                <a:latin typeface="Arial"/>
              </a:defRPr>
            </a:pPr>
            <a:r>
              <a:t>  3. Minimal salt / ionic strength effects.</a:t>
            </a:r>
          </a:p>
          <a:p>
            <a:pPr>
              <a:defRPr sz="1100">
                <a:solidFill>
                  <a:srgbClr val="0F172A"/>
                </a:solidFill>
                <a:latin typeface="Arial"/>
              </a:defRPr>
            </a:pPr>
            <a:r>
              <a:t>  4. Low metal-binding affinity (does not precipitate Ca2+ or Mg2+).</a:t>
            </a:r>
          </a:p>
          <a:p>
            <a:pPr>
              <a:defRPr sz="1100">
                <a:solidFill>
                  <a:srgbClr val="0F172A"/>
                </a:solidFill>
                <a:latin typeface="Arial"/>
              </a:defRPr>
            </a:pPr>
            <a:r>
              <a:t>  5. Complete optical transparency in UV/Vis (wavelengths &gt;= 230 nm).</a:t>
            </a:r>
          </a:p>
          <a:p>
            <a:pPr>
              <a:defRPr sz="1100">
                <a:solidFill>
                  <a:srgbClr val="0F172A"/>
                </a:solidFill>
                <a:latin typeface="Arial"/>
              </a:defRPr>
            </a:pPr>
            <a:r>
              <a:t>  6. Chemical stability &amp; resistance to enzymatic breakdown.</a:t>
            </a:r>
          </a:p>
          <a:p>
            <a:pPr>
              <a:defRPr sz="1100">
                <a:solidFill>
                  <a:srgbClr val="0F172A"/>
                </a:solidFill>
                <a:latin typeface="Arial"/>
              </a:defRPr>
            </a:pPr>
          </a:p>
          <a:p>
            <a:pPr>
              <a:defRPr sz="1100">
                <a:solidFill>
                  <a:srgbClr val="0F172A"/>
                </a:solidFill>
                <a:latin typeface="Arial"/>
              </a:defRPr>
            </a:pPr>
            <a:r>
              <a:t>• Key Examples: HEPES (pH 6.8–8.2), MOPS (pH 6.5–7.9), MES (pH 5.5–6.7).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lIns="0" rIns="0" tIns="0" bIns="0">
            <a:spAutoFit/>
          </a:bodyPr>
          <a:lstStyle/>
          <a:p>
            <a:pPr>
              <a:defRPr sz="1000" b="1">
                <a:solidFill>
                  <a:srgbClr val="0D9488"/>
                </a:solidFill>
                <a:latin typeface="Arial"/>
              </a:defRPr>
            </a:pPr>
            <a:r>
              <a:t>REFERENCE GUIDE</a:t>
            </a:r>
          </a:p>
        </p:txBody>
      </p:sp>
      <p:sp>
        <p:nvSpPr>
          <p:cNvPr id="4" name="TextBox 3"/>
          <p:cNvSpPr txBox="1"/>
          <p:nvPr/>
        </p:nvSpPr>
        <p:spPr>
          <a:xfrm>
            <a:off x="731520" y="685800"/>
            <a:ext cx="10698480" cy="594360"/>
          </a:xfrm>
          <a:prstGeom prst="rect">
            <a:avLst/>
          </a:prstGeom>
          <a:noFill/>
        </p:spPr>
        <p:txBody>
          <a:bodyPr wrap="square" lIns="0" rIns="0" tIns="0" bIns="0">
            <a:spAutoFit/>
          </a:bodyPr>
          <a:lstStyle/>
          <a:p>
            <a:pPr>
              <a:defRPr sz="2200" b="1">
                <a:solidFill>
                  <a:srgbClr val="0F172A"/>
                </a:solidFill>
                <a:latin typeface="Arial"/>
              </a:defRPr>
            </a:pPr>
            <a:r>
              <a:t>Comparative Matrix: Key Biological Buffers in Assay Design</a:t>
            </a:r>
          </a:p>
        </p:txBody>
      </p:sp>
      <p:graphicFrame>
        <p:nvGraphicFramePr>
          <p:cNvPr id="5" name="Table 4"/>
          <p:cNvGraphicFramePr>
            <a:graphicFrameLocks noGrp="1"/>
          </p:cNvGraphicFramePr>
          <p:nvPr/>
        </p:nvGraphicFramePr>
        <p:xfrm>
          <a:off x="731520" y="1371600"/>
          <a:ext cx="10698480" cy="4846320"/>
        </p:xfrm>
        <a:graphic>
          <a:graphicData uri="http://schemas.openxmlformats.org/drawingml/2006/table">
            <a:tbl>
              <a:tblPr firstRow="1" bandRow="1">
                <a:tableStyleId>{5C22544A-7EE6-4342-B048-85BDC9FD1C3A}</a:tableStyleId>
              </a:tblPr>
              <a:tblGrid>
                <a:gridCol w="1280160"/>
                <a:gridCol w="1005840"/>
                <a:gridCol w="1371600"/>
                <a:gridCol w="1280160"/>
                <a:gridCol w="2834640"/>
                <a:gridCol w="2926080"/>
              </a:tblGrid>
              <a:tr h="605790">
                <a:tc>
                  <a:txBody>
                    <a:bodyPr/>
                    <a:lstStyle/>
                    <a:p>
                      <a:pPr algn="ctr">
                        <a:defRPr sz="1100" b="1">
                          <a:solidFill>
                            <a:srgbClr val="FFFFFF"/>
                          </a:solidFill>
                          <a:latin typeface="Arial"/>
                        </a:defRPr>
                      </a:pPr>
                      <a:r>
                        <a:t>Buffer</a:t>
                      </a:r>
                    </a:p>
                  </a:txBody>
                  <a:tcPr>
                    <a:solidFill>
                      <a:srgbClr val="0A192F"/>
                    </a:solidFill>
                  </a:tcPr>
                </a:tc>
                <a:tc>
                  <a:txBody>
                    <a:bodyPr/>
                    <a:lstStyle/>
                    <a:p>
                      <a:pPr algn="ctr">
                        <a:defRPr sz="1100" b="1">
                          <a:solidFill>
                            <a:srgbClr val="FFFFFF"/>
                          </a:solidFill>
                          <a:latin typeface="Arial"/>
                        </a:defRPr>
                      </a:pPr>
                      <a:r>
                        <a:t>pKa (25°C)</a:t>
                      </a:r>
                    </a:p>
                  </a:txBody>
                  <a:tcPr>
                    <a:solidFill>
                      <a:srgbClr val="0A192F"/>
                    </a:solidFill>
                  </a:tcPr>
                </a:tc>
                <a:tc>
                  <a:txBody>
                    <a:bodyPr/>
                    <a:lstStyle/>
                    <a:p>
                      <a:pPr algn="ctr">
                        <a:defRPr sz="1100" b="1">
                          <a:solidFill>
                            <a:srgbClr val="FFFFFF"/>
                          </a:solidFill>
                          <a:latin typeface="Arial"/>
                        </a:defRPr>
                      </a:pPr>
                      <a:r>
                        <a:t>Useful pH</a:t>
                      </a:r>
                    </a:p>
                  </a:txBody>
                  <a:tcPr>
                    <a:solidFill>
                      <a:srgbClr val="0A192F"/>
                    </a:solidFill>
                  </a:tcPr>
                </a:tc>
                <a:tc>
                  <a:txBody>
                    <a:bodyPr/>
                    <a:lstStyle/>
                    <a:p>
                      <a:pPr algn="ctr">
                        <a:defRPr sz="1100" b="1">
                          <a:solidFill>
                            <a:srgbClr val="FFFFFF"/>
                          </a:solidFill>
                          <a:latin typeface="Arial"/>
                        </a:defRPr>
                      </a:pPr>
                      <a:r>
                        <a:t>dpKa/dT (/°C)</a:t>
                      </a:r>
                    </a:p>
                  </a:txBody>
                  <a:tcPr>
                    <a:solidFill>
                      <a:srgbClr val="0A192F"/>
                    </a:solidFill>
                  </a:tcPr>
                </a:tc>
                <a:tc>
                  <a:txBody>
                    <a:bodyPr/>
                    <a:lstStyle/>
                    <a:p>
                      <a:pPr algn="ctr">
                        <a:defRPr sz="1100" b="1">
                          <a:solidFill>
                            <a:srgbClr val="FFFFFF"/>
                          </a:solidFill>
                          <a:latin typeface="Arial"/>
                        </a:defRPr>
                      </a:pPr>
                      <a:r>
                        <a:t>Primary Advantages</a:t>
                      </a:r>
                    </a:p>
                  </a:txBody>
                  <a:tcPr>
                    <a:solidFill>
                      <a:srgbClr val="0A192F"/>
                    </a:solidFill>
                  </a:tcPr>
                </a:tc>
                <a:tc>
                  <a:txBody>
                    <a:bodyPr/>
                    <a:lstStyle/>
                    <a:p>
                      <a:pPr algn="ctr">
                        <a:defRPr sz="1100" b="1">
                          <a:solidFill>
                            <a:srgbClr val="FFFFFF"/>
                          </a:solidFill>
                          <a:latin typeface="Arial"/>
                        </a:defRPr>
                      </a:pPr>
                      <a:r>
                        <a:t>Known Interferences / Drawbacks</a:t>
                      </a:r>
                    </a:p>
                  </a:txBody>
                  <a:tcPr>
                    <a:solidFill>
                      <a:srgbClr val="0A192F"/>
                    </a:solidFill>
                  </a:tcPr>
                </a:tc>
              </a:tr>
              <a:tr h="605790">
                <a:tc>
                  <a:txBody>
                    <a:bodyPr/>
                    <a:lstStyle/>
                    <a:p>
                      <a:pPr algn="ctr">
                        <a:defRPr sz="1000" b="1">
                          <a:solidFill>
                            <a:srgbClr val="0F172A"/>
                          </a:solidFill>
                          <a:latin typeface="Arial"/>
                        </a:defRPr>
                      </a:pPr>
                      <a:r>
                        <a:t>MES</a:t>
                      </a:r>
                    </a:p>
                  </a:txBody>
                  <a:tcPr>
                    <a:solidFill>
                      <a:srgbClr val="FFFFFF"/>
                    </a:solidFill>
                  </a:tcPr>
                </a:tc>
                <a:tc>
                  <a:txBody>
                    <a:bodyPr/>
                    <a:lstStyle/>
                    <a:p>
                      <a:pPr algn="ctr">
                        <a:defRPr sz="1000">
                          <a:solidFill>
                            <a:srgbClr val="0F172A"/>
                          </a:solidFill>
                          <a:latin typeface="Arial"/>
                        </a:defRPr>
                      </a:pPr>
                      <a:r>
                        <a:t>6.15</a:t>
                      </a:r>
                    </a:p>
                  </a:txBody>
                  <a:tcPr>
                    <a:solidFill>
                      <a:srgbClr val="FFFFFF"/>
                    </a:solidFill>
                  </a:tcPr>
                </a:tc>
                <a:tc>
                  <a:txBody>
                    <a:bodyPr/>
                    <a:lstStyle/>
                    <a:p>
                      <a:pPr algn="ctr">
                        <a:defRPr sz="1000">
                          <a:solidFill>
                            <a:srgbClr val="0F172A"/>
                          </a:solidFill>
                          <a:latin typeface="Arial"/>
                        </a:defRPr>
                      </a:pPr>
                      <a:r>
                        <a:t>5.5 – 6.7</a:t>
                      </a:r>
                    </a:p>
                  </a:txBody>
                  <a:tcPr>
                    <a:solidFill>
                      <a:srgbClr val="FFFFFF"/>
                    </a:solidFill>
                  </a:tcPr>
                </a:tc>
                <a:tc>
                  <a:txBody>
                    <a:bodyPr/>
                    <a:lstStyle/>
                    <a:p>
                      <a:pPr algn="ctr">
                        <a:defRPr sz="1000">
                          <a:solidFill>
                            <a:srgbClr val="0F172A"/>
                          </a:solidFill>
                          <a:latin typeface="Arial"/>
                        </a:defRPr>
                      </a:pPr>
                      <a:r>
                        <a:t>-0.011</a:t>
                      </a:r>
                    </a:p>
                  </a:txBody>
                  <a:tcPr>
                    <a:solidFill>
                      <a:srgbClr val="FFFFFF"/>
                    </a:solidFill>
                  </a:tcPr>
                </a:tc>
                <a:tc>
                  <a:txBody>
                    <a:bodyPr/>
                    <a:lstStyle/>
                    <a:p>
                      <a:pPr>
                        <a:defRPr sz="1000">
                          <a:solidFill>
                            <a:srgbClr val="0F172A"/>
                          </a:solidFill>
                          <a:latin typeface="Arial"/>
                        </a:defRPr>
                      </a:pPr>
                      <a:r>
                        <a:t>Does not bind metals; UV clear</a:t>
                      </a:r>
                    </a:p>
                  </a:txBody>
                  <a:tcPr>
                    <a:solidFill>
                      <a:srgbClr val="FFFFFF"/>
                    </a:solidFill>
                  </a:tcPr>
                </a:tc>
                <a:tc>
                  <a:txBody>
                    <a:bodyPr/>
                    <a:lstStyle/>
                    <a:p>
                      <a:pPr>
                        <a:defRPr sz="1000">
                          <a:solidFill>
                            <a:srgbClr val="0F172A"/>
                          </a:solidFill>
                          <a:latin typeface="Arial"/>
                        </a:defRPr>
                      </a:pPr>
                      <a:r>
                        <a:t>Incompatible with neutral/alkaline assays</a:t>
                      </a:r>
                    </a:p>
                  </a:txBody>
                  <a:tcPr>
                    <a:solidFill>
                      <a:srgbClr val="FFFFFF"/>
                    </a:solidFill>
                  </a:tcPr>
                </a:tc>
              </a:tr>
              <a:tr h="605790">
                <a:tc>
                  <a:txBody>
                    <a:bodyPr/>
                    <a:lstStyle/>
                    <a:p>
                      <a:pPr algn="ctr">
                        <a:defRPr sz="1000" b="1">
                          <a:solidFill>
                            <a:srgbClr val="0F172A"/>
                          </a:solidFill>
                          <a:latin typeface="Arial"/>
                        </a:defRPr>
                      </a:pPr>
                      <a:r>
                        <a:t>PIPES</a:t>
                      </a:r>
                    </a:p>
                  </a:txBody>
                  <a:tcPr>
                    <a:solidFill>
                      <a:srgbClr val="EFF6FF"/>
                    </a:solidFill>
                  </a:tcPr>
                </a:tc>
                <a:tc>
                  <a:txBody>
                    <a:bodyPr/>
                    <a:lstStyle/>
                    <a:p>
                      <a:pPr algn="ctr">
                        <a:defRPr sz="1000">
                          <a:solidFill>
                            <a:srgbClr val="0F172A"/>
                          </a:solidFill>
                          <a:latin typeface="Arial"/>
                        </a:defRPr>
                      </a:pPr>
                      <a:r>
                        <a:t>6.76</a:t>
                      </a:r>
                    </a:p>
                  </a:txBody>
                  <a:tcPr>
                    <a:solidFill>
                      <a:srgbClr val="EFF6FF"/>
                    </a:solidFill>
                  </a:tcPr>
                </a:tc>
                <a:tc>
                  <a:txBody>
                    <a:bodyPr/>
                    <a:lstStyle/>
                    <a:p>
                      <a:pPr algn="ctr">
                        <a:defRPr sz="1000">
                          <a:solidFill>
                            <a:srgbClr val="0F172A"/>
                          </a:solidFill>
                          <a:latin typeface="Arial"/>
                        </a:defRPr>
                      </a:pPr>
                      <a:r>
                        <a:t>6.1 – 7.5</a:t>
                      </a:r>
                    </a:p>
                  </a:txBody>
                  <a:tcPr>
                    <a:solidFill>
                      <a:srgbClr val="EFF6FF"/>
                    </a:solidFill>
                  </a:tcPr>
                </a:tc>
                <a:tc>
                  <a:txBody>
                    <a:bodyPr/>
                    <a:lstStyle/>
                    <a:p>
                      <a:pPr algn="ctr">
                        <a:defRPr sz="1000">
                          <a:solidFill>
                            <a:srgbClr val="0F172A"/>
                          </a:solidFill>
                          <a:latin typeface="Arial"/>
                        </a:defRPr>
                      </a:pPr>
                      <a:r>
                        <a:t>-0.0085</a:t>
                      </a:r>
                    </a:p>
                  </a:txBody>
                  <a:tcPr>
                    <a:solidFill>
                      <a:srgbClr val="EFF6FF"/>
                    </a:solidFill>
                  </a:tcPr>
                </a:tc>
                <a:tc>
                  <a:txBody>
                    <a:bodyPr/>
                    <a:lstStyle/>
                    <a:p>
                      <a:pPr>
                        <a:defRPr sz="1000">
                          <a:solidFill>
                            <a:srgbClr val="0F172A"/>
                          </a:solidFill>
                          <a:latin typeface="Arial"/>
                        </a:defRPr>
                      </a:pPr>
                      <a:r>
                        <a:t>Negligible metal binding</a:t>
                      </a:r>
                    </a:p>
                  </a:txBody>
                  <a:tcPr>
                    <a:solidFill>
                      <a:srgbClr val="EFF6FF"/>
                    </a:solidFill>
                  </a:tcPr>
                </a:tc>
                <a:tc>
                  <a:txBody>
                    <a:bodyPr/>
                    <a:lstStyle/>
                    <a:p>
                      <a:pPr>
                        <a:defRPr sz="1000">
                          <a:solidFill>
                            <a:srgbClr val="0F172A"/>
                          </a:solidFill>
                          <a:latin typeface="Arial"/>
                        </a:defRPr>
                      </a:pPr>
                      <a:r>
                        <a:t>Low water solubility at free acid form</a:t>
                      </a:r>
                    </a:p>
                  </a:txBody>
                  <a:tcPr>
                    <a:solidFill>
                      <a:srgbClr val="EFF6FF"/>
                    </a:solidFill>
                  </a:tcPr>
                </a:tc>
              </a:tr>
              <a:tr h="605790">
                <a:tc>
                  <a:txBody>
                    <a:bodyPr/>
                    <a:lstStyle/>
                    <a:p>
                      <a:pPr algn="ctr">
                        <a:defRPr sz="1000" b="1">
                          <a:solidFill>
                            <a:srgbClr val="0F172A"/>
                          </a:solidFill>
                          <a:latin typeface="Arial"/>
                        </a:defRPr>
                      </a:pPr>
                      <a:r>
                        <a:t>MOPS</a:t>
                      </a:r>
                    </a:p>
                  </a:txBody>
                  <a:tcPr>
                    <a:solidFill>
                      <a:srgbClr val="FFFFFF"/>
                    </a:solidFill>
                  </a:tcPr>
                </a:tc>
                <a:tc>
                  <a:txBody>
                    <a:bodyPr/>
                    <a:lstStyle/>
                    <a:p>
                      <a:pPr algn="ctr">
                        <a:defRPr sz="1000">
                          <a:solidFill>
                            <a:srgbClr val="0F172A"/>
                          </a:solidFill>
                          <a:latin typeface="Arial"/>
                        </a:defRPr>
                      </a:pPr>
                      <a:r>
                        <a:t>7.14</a:t>
                      </a:r>
                    </a:p>
                  </a:txBody>
                  <a:tcPr>
                    <a:solidFill>
                      <a:srgbClr val="FFFFFF"/>
                    </a:solidFill>
                  </a:tcPr>
                </a:tc>
                <a:tc>
                  <a:txBody>
                    <a:bodyPr/>
                    <a:lstStyle/>
                    <a:p>
                      <a:pPr algn="ctr">
                        <a:defRPr sz="1000">
                          <a:solidFill>
                            <a:srgbClr val="0F172A"/>
                          </a:solidFill>
                          <a:latin typeface="Arial"/>
                        </a:defRPr>
                      </a:pPr>
                      <a:r>
                        <a:t>6.5 – 7.9</a:t>
                      </a:r>
                    </a:p>
                  </a:txBody>
                  <a:tcPr>
                    <a:solidFill>
                      <a:srgbClr val="FFFFFF"/>
                    </a:solidFill>
                  </a:tcPr>
                </a:tc>
                <a:tc>
                  <a:txBody>
                    <a:bodyPr/>
                    <a:lstStyle/>
                    <a:p>
                      <a:pPr algn="ctr">
                        <a:defRPr sz="1000">
                          <a:solidFill>
                            <a:srgbClr val="0F172A"/>
                          </a:solidFill>
                          <a:latin typeface="Arial"/>
                        </a:defRPr>
                      </a:pPr>
                      <a:r>
                        <a:t>-0.013</a:t>
                      </a:r>
                    </a:p>
                  </a:txBody>
                  <a:tcPr>
                    <a:solidFill>
                      <a:srgbClr val="FFFFFF"/>
                    </a:solidFill>
                  </a:tcPr>
                </a:tc>
                <a:tc>
                  <a:txBody>
                    <a:bodyPr/>
                    <a:lstStyle/>
                    <a:p>
                      <a:pPr>
                        <a:defRPr sz="1000">
                          <a:solidFill>
                            <a:srgbClr val="0F172A"/>
                          </a:solidFill>
                          <a:latin typeface="Arial"/>
                        </a:defRPr>
                      </a:pPr>
                      <a:r>
                        <a:t>Excellent physiological buffer</a:t>
                      </a:r>
                    </a:p>
                  </a:txBody>
                  <a:tcPr>
                    <a:solidFill>
                      <a:srgbClr val="FFFFFF"/>
                    </a:solidFill>
                  </a:tcPr>
                </a:tc>
                <a:tc>
                  <a:txBody>
                    <a:bodyPr/>
                    <a:lstStyle/>
                    <a:p>
                      <a:pPr>
                        <a:defRPr sz="1000">
                          <a:solidFill>
                            <a:srgbClr val="0F172A"/>
                          </a:solidFill>
                          <a:latin typeface="Arial"/>
                        </a:defRPr>
                      </a:pPr>
                      <a:r>
                        <a:t>Interacts with some Fe(III) complexes</a:t>
                      </a:r>
                    </a:p>
                  </a:txBody>
                  <a:tcPr>
                    <a:solidFill>
                      <a:srgbClr val="FFFFFF"/>
                    </a:solidFill>
                  </a:tcPr>
                </a:tc>
              </a:tr>
              <a:tr h="605790">
                <a:tc>
                  <a:txBody>
                    <a:bodyPr/>
                    <a:lstStyle/>
                    <a:p>
                      <a:pPr algn="ctr">
                        <a:defRPr sz="1000" b="1">
                          <a:solidFill>
                            <a:srgbClr val="0F172A"/>
                          </a:solidFill>
                          <a:latin typeface="Arial"/>
                        </a:defRPr>
                      </a:pPr>
                      <a:r>
                        <a:t>HEPES</a:t>
                      </a:r>
                    </a:p>
                  </a:txBody>
                  <a:tcPr>
                    <a:solidFill>
                      <a:srgbClr val="EFF6FF"/>
                    </a:solidFill>
                  </a:tcPr>
                </a:tc>
                <a:tc>
                  <a:txBody>
                    <a:bodyPr/>
                    <a:lstStyle/>
                    <a:p>
                      <a:pPr algn="ctr">
                        <a:defRPr sz="1000">
                          <a:solidFill>
                            <a:srgbClr val="0F172A"/>
                          </a:solidFill>
                          <a:latin typeface="Arial"/>
                        </a:defRPr>
                      </a:pPr>
                      <a:r>
                        <a:t>7.48</a:t>
                      </a:r>
                    </a:p>
                  </a:txBody>
                  <a:tcPr>
                    <a:solidFill>
                      <a:srgbClr val="EFF6FF"/>
                    </a:solidFill>
                  </a:tcPr>
                </a:tc>
                <a:tc>
                  <a:txBody>
                    <a:bodyPr/>
                    <a:lstStyle/>
                    <a:p>
                      <a:pPr algn="ctr">
                        <a:defRPr sz="1000">
                          <a:solidFill>
                            <a:srgbClr val="0F172A"/>
                          </a:solidFill>
                          <a:latin typeface="Arial"/>
                        </a:defRPr>
                      </a:pPr>
                      <a:r>
                        <a:t>6.8 – 8.2</a:t>
                      </a:r>
                    </a:p>
                  </a:txBody>
                  <a:tcPr>
                    <a:solidFill>
                      <a:srgbClr val="EFF6FF"/>
                    </a:solidFill>
                  </a:tcPr>
                </a:tc>
                <a:tc>
                  <a:txBody>
                    <a:bodyPr/>
                    <a:lstStyle/>
                    <a:p>
                      <a:pPr algn="ctr">
                        <a:defRPr sz="1000">
                          <a:solidFill>
                            <a:srgbClr val="0F172A"/>
                          </a:solidFill>
                          <a:latin typeface="Arial"/>
                        </a:defRPr>
                      </a:pPr>
                      <a:r>
                        <a:t>-0.014</a:t>
                      </a:r>
                    </a:p>
                  </a:txBody>
                  <a:tcPr>
                    <a:solidFill>
                      <a:srgbClr val="EFF6FF"/>
                    </a:solidFill>
                  </a:tcPr>
                </a:tc>
                <a:tc>
                  <a:txBody>
                    <a:bodyPr/>
                    <a:lstStyle/>
                    <a:p>
                      <a:pPr>
                        <a:defRPr sz="1000">
                          <a:solidFill>
                            <a:srgbClr val="0F172A"/>
                          </a:solidFill>
                          <a:latin typeface="Arial"/>
                        </a:defRPr>
                      </a:pPr>
                      <a:r>
                        <a:t>Gold standard for enzymes &amp; cells</a:t>
                      </a:r>
                    </a:p>
                  </a:txBody>
                  <a:tcPr>
                    <a:solidFill>
                      <a:srgbClr val="EFF6FF"/>
                    </a:solidFill>
                  </a:tcPr>
                </a:tc>
                <a:tc>
                  <a:txBody>
                    <a:bodyPr/>
                    <a:lstStyle/>
                    <a:p>
                      <a:pPr>
                        <a:defRPr sz="1000">
                          <a:solidFill>
                            <a:srgbClr val="0F172A"/>
                          </a:solidFill>
                          <a:latin typeface="Arial"/>
                        </a:defRPr>
                      </a:pPr>
                      <a:r>
                        <a:t>Produces radicals under ambient light</a:t>
                      </a:r>
                    </a:p>
                  </a:txBody>
                  <a:tcPr>
                    <a:solidFill>
                      <a:srgbClr val="EFF6FF"/>
                    </a:solidFill>
                  </a:tcPr>
                </a:tc>
              </a:tr>
              <a:tr h="605790">
                <a:tc>
                  <a:txBody>
                    <a:bodyPr/>
                    <a:lstStyle/>
                    <a:p>
                      <a:pPr algn="ctr">
                        <a:defRPr sz="1000" b="1">
                          <a:solidFill>
                            <a:srgbClr val="0F172A"/>
                          </a:solidFill>
                          <a:latin typeface="Arial"/>
                        </a:defRPr>
                      </a:pPr>
                      <a:r>
                        <a:t>Tris</a:t>
                      </a:r>
                    </a:p>
                  </a:txBody>
                  <a:tcPr>
                    <a:solidFill>
                      <a:srgbClr val="FFFFFF"/>
                    </a:solidFill>
                  </a:tcPr>
                </a:tc>
                <a:tc>
                  <a:txBody>
                    <a:bodyPr/>
                    <a:lstStyle/>
                    <a:p>
                      <a:pPr algn="ctr">
                        <a:defRPr sz="1000">
                          <a:solidFill>
                            <a:srgbClr val="0F172A"/>
                          </a:solidFill>
                          <a:latin typeface="Arial"/>
                        </a:defRPr>
                      </a:pPr>
                      <a:r>
                        <a:t>8.06</a:t>
                      </a:r>
                    </a:p>
                  </a:txBody>
                  <a:tcPr>
                    <a:solidFill>
                      <a:srgbClr val="FFFFFF"/>
                    </a:solidFill>
                  </a:tcPr>
                </a:tc>
                <a:tc>
                  <a:txBody>
                    <a:bodyPr/>
                    <a:lstStyle/>
                    <a:p>
                      <a:pPr algn="ctr">
                        <a:defRPr sz="1000">
                          <a:solidFill>
                            <a:srgbClr val="0F172A"/>
                          </a:solidFill>
                          <a:latin typeface="Arial"/>
                        </a:defRPr>
                      </a:pPr>
                      <a:r>
                        <a:t>7.5 – 9.0</a:t>
                      </a:r>
                    </a:p>
                  </a:txBody>
                  <a:tcPr>
                    <a:solidFill>
                      <a:srgbClr val="FFFFFF"/>
                    </a:solidFill>
                  </a:tcPr>
                </a:tc>
                <a:tc>
                  <a:txBody>
                    <a:bodyPr/>
                    <a:lstStyle/>
                    <a:p>
                      <a:pPr algn="ctr">
                        <a:defRPr sz="1000">
                          <a:solidFill>
                            <a:srgbClr val="0F172A"/>
                          </a:solidFill>
                          <a:latin typeface="Arial"/>
                        </a:defRPr>
                      </a:pPr>
                      <a:r>
                        <a:t>-0.028</a:t>
                      </a:r>
                    </a:p>
                  </a:txBody>
                  <a:tcPr>
                    <a:solidFill>
                      <a:srgbClr val="FFFFFF"/>
                    </a:solidFill>
                  </a:tcPr>
                </a:tc>
                <a:tc>
                  <a:txBody>
                    <a:bodyPr/>
                    <a:lstStyle/>
                    <a:p>
                      <a:pPr>
                        <a:defRPr sz="1000">
                          <a:solidFill>
                            <a:srgbClr val="0F172A"/>
                          </a:solidFill>
                          <a:latin typeface="Arial"/>
                        </a:defRPr>
                      </a:pPr>
                      <a:r>
                        <a:t>Inexpensive, highly soluble</a:t>
                      </a:r>
                    </a:p>
                  </a:txBody>
                  <a:tcPr>
                    <a:solidFill>
                      <a:srgbClr val="FFFFFF"/>
                    </a:solidFill>
                  </a:tcPr>
                </a:tc>
                <a:tc>
                  <a:txBody>
                    <a:bodyPr/>
                    <a:lstStyle/>
                    <a:p>
                      <a:pPr>
                        <a:defRPr sz="1000">
                          <a:solidFill>
                            <a:srgbClr val="0F172A"/>
                          </a:solidFill>
                          <a:latin typeface="Arial"/>
                        </a:defRPr>
                      </a:pPr>
                      <a:r>
                        <a:t>High temp drift; reactive primary amine</a:t>
                      </a:r>
                    </a:p>
                  </a:txBody>
                  <a:tcPr>
                    <a:solidFill>
                      <a:srgbClr val="FFFFFF"/>
                    </a:solidFill>
                  </a:tcPr>
                </a:tc>
              </a:tr>
              <a:tr h="605790">
                <a:tc>
                  <a:txBody>
                    <a:bodyPr/>
                    <a:lstStyle/>
                    <a:p>
                      <a:pPr algn="ctr">
                        <a:defRPr sz="1000" b="1">
                          <a:solidFill>
                            <a:srgbClr val="0F172A"/>
                          </a:solidFill>
                          <a:latin typeface="Arial"/>
                        </a:defRPr>
                      </a:pPr>
                      <a:r>
                        <a:t>Tricine</a:t>
                      </a:r>
                    </a:p>
                  </a:txBody>
                  <a:tcPr>
                    <a:solidFill>
                      <a:srgbClr val="EFF6FF"/>
                    </a:solidFill>
                  </a:tcPr>
                </a:tc>
                <a:tc>
                  <a:txBody>
                    <a:bodyPr/>
                    <a:lstStyle/>
                    <a:p>
                      <a:pPr algn="ctr">
                        <a:defRPr sz="1000">
                          <a:solidFill>
                            <a:srgbClr val="0F172A"/>
                          </a:solidFill>
                          <a:latin typeface="Arial"/>
                        </a:defRPr>
                      </a:pPr>
                      <a:r>
                        <a:t>8.05</a:t>
                      </a:r>
                    </a:p>
                  </a:txBody>
                  <a:tcPr>
                    <a:solidFill>
                      <a:srgbClr val="EFF6FF"/>
                    </a:solidFill>
                  </a:tcPr>
                </a:tc>
                <a:tc>
                  <a:txBody>
                    <a:bodyPr/>
                    <a:lstStyle/>
                    <a:p>
                      <a:pPr algn="ctr">
                        <a:defRPr sz="1000">
                          <a:solidFill>
                            <a:srgbClr val="0F172A"/>
                          </a:solidFill>
                          <a:latin typeface="Arial"/>
                        </a:defRPr>
                      </a:pPr>
                      <a:r>
                        <a:t>7.4 – 8.8</a:t>
                      </a:r>
                    </a:p>
                  </a:txBody>
                  <a:tcPr>
                    <a:solidFill>
                      <a:srgbClr val="EFF6FF"/>
                    </a:solidFill>
                  </a:tcPr>
                </a:tc>
                <a:tc>
                  <a:txBody>
                    <a:bodyPr/>
                    <a:lstStyle/>
                    <a:p>
                      <a:pPr algn="ctr">
                        <a:defRPr sz="1000">
                          <a:solidFill>
                            <a:srgbClr val="0F172A"/>
                          </a:solidFill>
                          <a:latin typeface="Arial"/>
                        </a:defRPr>
                      </a:pPr>
                      <a:r>
                        <a:t>-0.021</a:t>
                      </a:r>
                    </a:p>
                  </a:txBody>
                  <a:tcPr>
                    <a:solidFill>
                      <a:srgbClr val="EFF6FF"/>
                    </a:solidFill>
                  </a:tcPr>
                </a:tc>
                <a:tc>
                  <a:txBody>
                    <a:bodyPr/>
                    <a:lstStyle/>
                    <a:p>
                      <a:pPr>
                        <a:defRPr sz="1000">
                          <a:solidFill>
                            <a:srgbClr val="0F172A"/>
                          </a:solidFill>
                          <a:latin typeface="Arial"/>
                        </a:defRPr>
                      </a:pPr>
                      <a:r>
                        <a:t>Ideal for chloroplasts &amp; metals</a:t>
                      </a:r>
                    </a:p>
                  </a:txBody>
                  <a:tcPr>
                    <a:solidFill>
                      <a:srgbClr val="EFF6FF"/>
                    </a:solidFill>
                  </a:tcPr>
                </a:tc>
                <a:tc>
                  <a:txBody>
                    <a:bodyPr/>
                    <a:lstStyle/>
                    <a:p>
                      <a:pPr>
                        <a:defRPr sz="1000">
                          <a:solidFill>
                            <a:srgbClr val="0F172A"/>
                          </a:solidFill>
                          <a:latin typeface="Arial"/>
                        </a:defRPr>
                      </a:pPr>
                      <a:r>
                        <a:t>Forms weak complexes with Cu2+, Ca2+</a:t>
                      </a:r>
                    </a:p>
                  </a:txBody>
                  <a:tcPr>
                    <a:solidFill>
                      <a:srgbClr val="EFF6FF"/>
                    </a:solidFill>
                  </a:tcPr>
                </a:tc>
              </a:tr>
              <a:tr h="605790">
                <a:tc>
                  <a:txBody>
                    <a:bodyPr/>
                    <a:lstStyle/>
                    <a:p>
                      <a:pPr algn="ctr">
                        <a:defRPr sz="1000" b="1">
                          <a:solidFill>
                            <a:srgbClr val="0F172A"/>
                          </a:solidFill>
                          <a:latin typeface="Arial"/>
                        </a:defRPr>
                      </a:pPr>
                      <a:r>
                        <a:t>Phosphate</a:t>
                      </a:r>
                    </a:p>
                  </a:txBody>
                  <a:tcPr>
                    <a:solidFill>
                      <a:srgbClr val="FFFFFF"/>
                    </a:solidFill>
                  </a:tcPr>
                </a:tc>
                <a:tc>
                  <a:txBody>
                    <a:bodyPr/>
                    <a:lstStyle/>
                    <a:p>
                      <a:pPr algn="ctr">
                        <a:defRPr sz="1000">
                          <a:solidFill>
                            <a:srgbClr val="0F172A"/>
                          </a:solidFill>
                          <a:latin typeface="Arial"/>
                        </a:defRPr>
                      </a:pPr>
                      <a:r>
                        <a:t>7.20 (pK2)</a:t>
                      </a:r>
                    </a:p>
                  </a:txBody>
                  <a:tcPr>
                    <a:solidFill>
                      <a:srgbClr val="FFFFFF"/>
                    </a:solidFill>
                  </a:tcPr>
                </a:tc>
                <a:tc>
                  <a:txBody>
                    <a:bodyPr/>
                    <a:lstStyle/>
                    <a:p>
                      <a:pPr algn="ctr">
                        <a:defRPr sz="1000">
                          <a:solidFill>
                            <a:srgbClr val="0F172A"/>
                          </a:solidFill>
                          <a:latin typeface="Arial"/>
                        </a:defRPr>
                      </a:pPr>
                      <a:r>
                        <a:t>5.8 – 8.0</a:t>
                      </a:r>
                    </a:p>
                  </a:txBody>
                  <a:tcPr>
                    <a:solidFill>
                      <a:srgbClr val="FFFFFF"/>
                    </a:solidFill>
                  </a:tcPr>
                </a:tc>
                <a:tc>
                  <a:txBody>
                    <a:bodyPr/>
                    <a:lstStyle/>
                    <a:p>
                      <a:pPr algn="ctr">
                        <a:defRPr sz="1000">
                          <a:solidFill>
                            <a:srgbClr val="0F172A"/>
                          </a:solidFill>
                          <a:latin typeface="Arial"/>
                        </a:defRPr>
                      </a:pPr>
                      <a:r>
                        <a:t>-0.0028</a:t>
                      </a:r>
                    </a:p>
                  </a:txBody>
                  <a:tcPr>
                    <a:solidFill>
                      <a:srgbClr val="FFFFFF"/>
                    </a:solidFill>
                  </a:tcPr>
                </a:tc>
                <a:tc>
                  <a:txBody>
                    <a:bodyPr/>
                    <a:lstStyle/>
                    <a:p>
                      <a:pPr>
                        <a:defRPr sz="1000">
                          <a:solidFill>
                            <a:srgbClr val="0F172A"/>
                          </a:solidFill>
                          <a:latin typeface="Arial"/>
                        </a:defRPr>
                      </a:pPr>
                      <a:r>
                        <a:t>Physiological, low temp drift</a:t>
                      </a:r>
                    </a:p>
                  </a:txBody>
                  <a:tcPr>
                    <a:solidFill>
                      <a:srgbClr val="FFFFFF"/>
                    </a:solidFill>
                  </a:tcPr>
                </a:tc>
                <a:tc>
                  <a:txBody>
                    <a:bodyPr/>
                    <a:lstStyle/>
                    <a:p>
                      <a:pPr>
                        <a:defRPr sz="1000">
                          <a:solidFill>
                            <a:srgbClr val="0F172A"/>
                          </a:solidFill>
                          <a:latin typeface="Arial"/>
                        </a:defRPr>
                      </a:pPr>
                      <a:r>
                        <a:t>Precipitates Ca2+/Mg2+; inhibits phosphatases</a:t>
                      </a:r>
                    </a:p>
                  </a:txBody>
                  <a:tcPr>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lIns="0" rIns="0" tIns="0" bIns="0">
            <a:spAutoFit/>
          </a:bodyPr>
          <a:lstStyle/>
          <a:p>
            <a:pPr>
              <a:defRPr sz="1000" b="1">
                <a:solidFill>
                  <a:srgbClr val="0D9488"/>
                </a:solidFill>
                <a:latin typeface="Arial"/>
              </a:defRPr>
            </a:pPr>
            <a:r>
              <a:t>REAGENT FORMULATION</a:t>
            </a:r>
          </a:p>
        </p:txBody>
      </p:sp>
      <p:sp>
        <p:nvSpPr>
          <p:cNvPr id="4" name="TextBox 3"/>
          <p:cNvSpPr txBox="1"/>
          <p:nvPr/>
        </p:nvSpPr>
        <p:spPr>
          <a:xfrm>
            <a:off x="731520" y="685800"/>
            <a:ext cx="10698480" cy="594360"/>
          </a:xfrm>
          <a:prstGeom prst="rect">
            <a:avLst/>
          </a:prstGeom>
          <a:noFill/>
        </p:spPr>
        <p:txBody>
          <a:bodyPr wrap="square" lIns="0" rIns="0" tIns="0" bIns="0">
            <a:spAutoFit/>
          </a:bodyPr>
          <a:lstStyle/>
          <a:p>
            <a:pPr>
              <a:defRPr sz="2200" b="1">
                <a:solidFill>
                  <a:srgbClr val="0F172A"/>
                </a:solidFill>
                <a:latin typeface="Arial"/>
              </a:defRPr>
            </a:pPr>
            <a:r>
              <a:t>Essential Assay Reagents: Substrates, Purity &amp; Cosolvents</a:t>
            </a:r>
          </a:p>
        </p:txBody>
      </p:sp>
      <p:sp>
        <p:nvSpPr>
          <p:cNvPr id="5" name="Rounded Rectangle 4"/>
          <p:cNvSpPr/>
          <p:nvPr/>
        </p:nvSpPr>
        <p:spPr>
          <a:xfrm>
            <a:off x="731520" y="1463040"/>
            <a:ext cx="342900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3063240" cy="548640"/>
          </a:xfrm>
          <a:prstGeom prst="rect">
            <a:avLst/>
          </a:prstGeom>
          <a:noFill/>
        </p:spPr>
        <p:txBody>
          <a:bodyPr wrap="none">
            <a:spAutoFit/>
          </a:bodyPr>
          <a:lstStyle/>
          <a:p>
            <a:pPr>
              <a:defRPr sz="1300" b="1">
                <a:solidFill>
                  <a:srgbClr val="2563EB"/>
                </a:solidFill>
                <a:latin typeface="Arial"/>
              </a:defRPr>
            </a:pPr>
            <a:r>
              <a:t>1. Purity &amp; Kinetic Regimes</a:t>
            </a:r>
          </a:p>
        </p:txBody>
      </p:sp>
      <p:sp>
        <p:nvSpPr>
          <p:cNvPr id="7" name="TextBox 6"/>
          <p:cNvSpPr txBox="1"/>
          <p:nvPr/>
        </p:nvSpPr>
        <p:spPr>
          <a:xfrm>
            <a:off x="914400" y="2194560"/>
            <a:ext cx="3063240" cy="3931920"/>
          </a:xfrm>
          <a:prstGeom prst="rect">
            <a:avLst/>
          </a:prstGeom>
          <a:noFill/>
        </p:spPr>
        <p:txBody>
          <a:bodyPr wrap="square">
            <a:spAutoFit/>
          </a:bodyPr>
          <a:lstStyle/>
          <a:p>
            <a:pPr>
              <a:defRPr sz="1100">
                <a:solidFill>
                  <a:srgbClr val="0F172A"/>
                </a:solidFill>
                <a:latin typeface="Arial"/>
              </a:defRPr>
            </a:pPr>
            <a:r>
              <a:t>• Chemical Purity Grade:</a:t>
            </a:r>
          </a:p>
          <a:p>
            <a:pPr>
              <a:defRPr sz="1100">
                <a:solidFill>
                  <a:srgbClr val="0F172A"/>
                </a:solidFill>
                <a:latin typeface="Arial"/>
              </a:defRPr>
            </a:pPr>
            <a:r>
              <a:t>  Must be &gt;= 98% analytical or HPLC grade. Trace isomeric contaminants can act as potent competitive inhibitors.</a:t>
            </a:r>
          </a:p>
          <a:p>
            <a:pPr>
              <a:defRPr sz="1100">
                <a:solidFill>
                  <a:srgbClr val="0F172A"/>
                </a:solidFill>
                <a:latin typeface="Arial"/>
              </a:defRPr>
            </a:pPr>
          </a:p>
          <a:p>
            <a:pPr>
              <a:defRPr sz="1100">
                <a:solidFill>
                  <a:srgbClr val="0F172A"/>
                </a:solidFill>
                <a:latin typeface="Arial"/>
              </a:defRPr>
            </a:pPr>
            <a:r>
              <a:t>• Saturating vs. Sub-saturating:</a:t>
            </a:r>
          </a:p>
          <a:p>
            <a:pPr>
              <a:defRPr sz="1100">
                <a:solidFill>
                  <a:srgbClr val="0F172A"/>
                </a:solidFill>
                <a:latin typeface="Arial"/>
              </a:defRPr>
            </a:pPr>
            <a:r>
              <a:t>  - Vmax Determinations: [S] &gt;= 10 * Km (pseudo-zero order kinetics, rate is independent of [S]).</a:t>
            </a:r>
          </a:p>
          <a:p>
            <a:pPr>
              <a:defRPr sz="1100">
                <a:solidFill>
                  <a:srgbClr val="0F172A"/>
                </a:solidFill>
                <a:latin typeface="Arial"/>
              </a:defRPr>
            </a:pPr>
            <a:r>
              <a:t>  - Inhibitor Screening: [S] ~ Km (first-order / mixed regime; sensitive to competitive inhibition).</a:t>
            </a:r>
          </a:p>
          <a:p>
            <a:pPr>
              <a:defRPr sz="1100">
                <a:solidFill>
                  <a:srgbClr val="0F172A"/>
                </a:solidFill>
                <a:latin typeface="Arial"/>
              </a:defRPr>
            </a:pPr>
          </a:p>
          <a:p>
            <a:pPr>
              <a:defRPr sz="1100">
                <a:solidFill>
                  <a:srgbClr val="0F172A"/>
                </a:solidFill>
                <a:latin typeface="Arial"/>
              </a:defRPr>
            </a:pPr>
            <a:r>
              <a:t>• Substrate Depletion Rule:</a:t>
            </a:r>
          </a:p>
          <a:p>
            <a:pPr>
              <a:defRPr sz="1100">
                <a:solidFill>
                  <a:srgbClr val="0F172A"/>
                </a:solidFill>
                <a:latin typeface="Arial"/>
              </a:defRPr>
            </a:pPr>
            <a:r>
              <a:t>  Never consume &gt; 10% of total substrate during the linear assay window to maintain steady-state kinetics.</a:t>
            </a:r>
          </a:p>
        </p:txBody>
      </p:sp>
      <p:sp>
        <p:nvSpPr>
          <p:cNvPr id="8" name="Rounded Rectangle 7"/>
          <p:cNvSpPr/>
          <p:nvPr/>
        </p:nvSpPr>
        <p:spPr>
          <a:xfrm>
            <a:off x="4343400" y="1463040"/>
            <a:ext cx="342900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1645920"/>
            <a:ext cx="3063240" cy="548640"/>
          </a:xfrm>
          <a:prstGeom prst="rect">
            <a:avLst/>
          </a:prstGeom>
          <a:noFill/>
        </p:spPr>
        <p:txBody>
          <a:bodyPr wrap="none">
            <a:spAutoFit/>
          </a:bodyPr>
          <a:lstStyle/>
          <a:p>
            <a:pPr>
              <a:defRPr sz="1300" b="1">
                <a:solidFill>
                  <a:srgbClr val="2563EB"/>
                </a:solidFill>
                <a:latin typeface="Arial"/>
              </a:defRPr>
            </a:pPr>
            <a:r>
              <a:t>2. Hydrophobic Substrates &amp; Cosolvents</a:t>
            </a:r>
          </a:p>
        </p:txBody>
      </p:sp>
      <p:sp>
        <p:nvSpPr>
          <p:cNvPr id="10" name="TextBox 9"/>
          <p:cNvSpPr txBox="1"/>
          <p:nvPr/>
        </p:nvSpPr>
        <p:spPr>
          <a:xfrm>
            <a:off x="4526280" y="2194560"/>
            <a:ext cx="3063240" cy="3931920"/>
          </a:xfrm>
          <a:prstGeom prst="rect">
            <a:avLst/>
          </a:prstGeom>
          <a:noFill/>
        </p:spPr>
        <p:txBody>
          <a:bodyPr wrap="square">
            <a:spAutoFit/>
          </a:bodyPr>
          <a:lstStyle/>
          <a:p>
            <a:pPr>
              <a:defRPr sz="1100">
                <a:solidFill>
                  <a:srgbClr val="0F172A"/>
                </a:solidFill>
                <a:latin typeface="Arial"/>
              </a:defRPr>
            </a:pPr>
            <a:r>
              <a:t>• The Solubility Barrier:</a:t>
            </a:r>
          </a:p>
          <a:p>
            <a:pPr>
              <a:defRPr sz="1100">
                <a:solidFill>
                  <a:srgbClr val="0F172A"/>
                </a:solidFill>
                <a:latin typeface="Arial"/>
              </a:defRPr>
            </a:pPr>
            <a:r>
              <a:t>  Lipids, steroids, hydrophobic peptides, and synthetic fluorophores have poor aqueous solubility.</a:t>
            </a:r>
          </a:p>
          <a:p>
            <a:pPr>
              <a:defRPr sz="1100">
                <a:solidFill>
                  <a:srgbClr val="0F172A"/>
                </a:solidFill>
                <a:latin typeface="Arial"/>
              </a:defRPr>
            </a:pPr>
          </a:p>
          <a:p>
            <a:pPr>
              <a:defRPr sz="1100">
                <a:solidFill>
                  <a:srgbClr val="0F172A"/>
                </a:solidFill>
                <a:latin typeface="Arial"/>
              </a:defRPr>
            </a:pPr>
            <a:r>
              <a:t>• Organic Cosolvent Stock Preparation:</a:t>
            </a:r>
          </a:p>
          <a:p>
            <a:pPr>
              <a:defRPr sz="1100">
                <a:solidFill>
                  <a:srgbClr val="0F172A"/>
                </a:solidFill>
                <a:latin typeface="Arial"/>
              </a:defRPr>
            </a:pPr>
            <a:r>
              <a:t>  Dissolve at 50x–1000x concentration in DMSO, Ethanol, or DMF.</a:t>
            </a:r>
          </a:p>
          <a:p>
            <a:pPr>
              <a:defRPr sz="1100">
                <a:solidFill>
                  <a:srgbClr val="0F172A"/>
                </a:solidFill>
                <a:latin typeface="Arial"/>
              </a:defRPr>
            </a:pPr>
          </a:p>
          <a:p>
            <a:pPr>
              <a:defRPr sz="1100">
                <a:solidFill>
                  <a:srgbClr val="0F172A"/>
                </a:solidFill>
                <a:latin typeface="Arial"/>
              </a:defRPr>
            </a:pPr>
            <a:r>
              <a:t>• Critical Cosolvent Tolerance Limits:</a:t>
            </a:r>
          </a:p>
          <a:p>
            <a:pPr>
              <a:defRPr sz="1100">
                <a:solidFill>
                  <a:srgbClr val="0F172A"/>
                </a:solidFill>
                <a:latin typeface="Arial"/>
              </a:defRPr>
            </a:pPr>
            <a:r>
              <a:t>  - Final assay cosolvent must strictly remain &lt;= 1.0% to 2.0% (v/v).</a:t>
            </a:r>
          </a:p>
          <a:p>
            <a:pPr>
              <a:defRPr sz="1100">
                <a:solidFill>
                  <a:srgbClr val="0F172A"/>
                </a:solidFill>
                <a:latin typeface="Arial"/>
              </a:defRPr>
            </a:pPr>
            <a:r>
              <a:t>  - Excess organic solvent strips protein hydration shells, causing active-site collapse.</a:t>
            </a:r>
          </a:p>
          <a:p>
            <a:pPr>
              <a:defRPr sz="1100">
                <a:solidFill>
                  <a:srgbClr val="0F172A"/>
                </a:solidFill>
                <a:latin typeface="Arial"/>
              </a:defRPr>
            </a:pPr>
            <a:r>
              <a:t>  - Always include a solvent-matched vehicle control (blank) in parallel!</a:t>
            </a:r>
          </a:p>
        </p:txBody>
      </p:sp>
      <p:sp>
        <p:nvSpPr>
          <p:cNvPr id="11" name="Rounded Rectangle 10"/>
          <p:cNvSpPr/>
          <p:nvPr/>
        </p:nvSpPr>
        <p:spPr>
          <a:xfrm>
            <a:off x="7955280" y="1463040"/>
            <a:ext cx="342900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38160" y="1645920"/>
            <a:ext cx="3063240" cy="548640"/>
          </a:xfrm>
          <a:prstGeom prst="rect">
            <a:avLst/>
          </a:prstGeom>
          <a:noFill/>
        </p:spPr>
        <p:txBody>
          <a:bodyPr wrap="none">
            <a:spAutoFit/>
          </a:bodyPr>
          <a:lstStyle/>
          <a:p>
            <a:pPr>
              <a:defRPr sz="1300" b="1">
                <a:solidFill>
                  <a:srgbClr val="2563EB"/>
                </a:solidFill>
                <a:latin typeface="Arial"/>
              </a:defRPr>
            </a:pPr>
            <a:r>
              <a:t>3. Stability &amp; Light Sensitivity</a:t>
            </a:r>
          </a:p>
        </p:txBody>
      </p:sp>
      <p:sp>
        <p:nvSpPr>
          <p:cNvPr id="13" name="TextBox 12"/>
          <p:cNvSpPr txBox="1"/>
          <p:nvPr/>
        </p:nvSpPr>
        <p:spPr>
          <a:xfrm>
            <a:off x="8138160" y="2194560"/>
            <a:ext cx="3063240" cy="3931920"/>
          </a:xfrm>
          <a:prstGeom prst="rect">
            <a:avLst/>
          </a:prstGeom>
          <a:noFill/>
        </p:spPr>
        <p:txBody>
          <a:bodyPr wrap="square">
            <a:spAutoFit/>
          </a:bodyPr>
          <a:lstStyle/>
          <a:p>
            <a:pPr>
              <a:defRPr sz="1100">
                <a:solidFill>
                  <a:srgbClr val="0F172A"/>
                </a:solidFill>
                <a:latin typeface="Arial"/>
              </a:defRPr>
            </a:pPr>
            <a:r>
              <a:t>• Auto-Hydrolysis:</a:t>
            </a:r>
          </a:p>
          <a:p>
            <a:pPr>
              <a:defRPr sz="1100">
                <a:solidFill>
                  <a:srgbClr val="0F172A"/>
                </a:solidFill>
                <a:latin typeface="Arial"/>
              </a:defRPr>
            </a:pPr>
            <a:r>
              <a:t>  Substrates with labile ester or anhydride bonds (e.g., p-nitrophenyl phosphate, acetyl-CoA) spontaneously hydrolyze in alkaline water.</a:t>
            </a:r>
          </a:p>
          <a:p>
            <a:pPr>
              <a:defRPr sz="1100">
                <a:solidFill>
                  <a:srgbClr val="0F172A"/>
                </a:solidFill>
                <a:latin typeface="Arial"/>
              </a:defRPr>
            </a:pPr>
          </a:p>
          <a:p>
            <a:pPr>
              <a:defRPr sz="1100">
                <a:solidFill>
                  <a:srgbClr val="0F172A"/>
                </a:solidFill>
                <a:latin typeface="Arial"/>
              </a:defRPr>
            </a:pPr>
            <a:r>
              <a:t>• Photolytic Degradation:</a:t>
            </a:r>
          </a:p>
          <a:p>
            <a:pPr>
              <a:defRPr sz="1100">
                <a:solidFill>
                  <a:srgbClr val="0F172A"/>
                </a:solidFill>
                <a:latin typeface="Arial"/>
              </a:defRPr>
            </a:pPr>
            <a:r>
              <a:t>  Fluorogenic substrates (AMC, Rhodamine derivatives) undergo photobleaching under light.</a:t>
            </a:r>
          </a:p>
          <a:p>
            <a:pPr>
              <a:defRPr sz="1100">
                <a:solidFill>
                  <a:srgbClr val="0F172A"/>
                </a:solidFill>
                <a:latin typeface="Arial"/>
              </a:defRPr>
            </a:pPr>
          </a:p>
          <a:p>
            <a:pPr>
              <a:defRPr sz="1100">
                <a:solidFill>
                  <a:srgbClr val="0F172A"/>
                </a:solidFill>
                <a:latin typeface="Arial"/>
              </a:defRPr>
            </a:pPr>
            <a:r>
              <a:t>• Best Practice:</a:t>
            </a:r>
          </a:p>
          <a:p>
            <a:pPr>
              <a:defRPr sz="1100">
                <a:solidFill>
                  <a:srgbClr val="0F172A"/>
                </a:solidFill>
                <a:latin typeface="Arial"/>
              </a:defRPr>
            </a:pPr>
            <a:r>
              <a:t>  Prepare stocks in amber/foil-wrapped microcentrifuge tubes; store desiccated at -20°C or -80°C in single-use aliquots.</a:t>
            </a:r>
          </a:p>
        </p:txBody>
      </p:sp>
      <p:sp>
        <p:nvSpPr>
          <p:cNvPr id="14" name="TextBox 13"/>
          <p:cNvSpPr txBox="1"/>
          <p:nvPr/>
        </p:nvSpPr>
        <p:spPr>
          <a:xfrm>
            <a:off x="914400" y="1645920"/>
            <a:ext cx="3063240" cy="548640"/>
          </a:xfrm>
          <a:prstGeom prst="rect">
            <a:avLst/>
          </a:prstGeom>
          <a:noFill/>
        </p:spPr>
        <p:txBody>
          <a:bodyPr wrap="none">
            <a:spAutoFit/>
          </a:bodyPr>
          <a:lstStyle/>
          <a:p>
            <a:pPr>
              <a:defRPr sz="1300" b="1">
                <a:solidFill>
                  <a:srgbClr val="2563EB"/>
                </a:solidFill>
                <a:latin typeface="Arial"/>
              </a:defRPr>
            </a:pPr>
            <a:r>
              <a:t>1. Mass from Molarity Formula</a:t>
            </a:r>
          </a:p>
        </p:txBody>
      </p:sp>
      <p:sp>
        <p:nvSpPr>
          <p:cNvPr id="15" name="TextBox 14"/>
          <p:cNvSpPr txBox="1"/>
          <p:nvPr/>
        </p:nvSpPr>
        <p:spPr>
          <a:xfrm>
            <a:off x="4526280" y="1645920"/>
            <a:ext cx="3063240" cy="548640"/>
          </a:xfrm>
          <a:prstGeom prst="rect">
            <a:avLst/>
          </a:prstGeom>
          <a:noFill/>
        </p:spPr>
        <p:txBody>
          <a:bodyPr wrap="none">
            <a:spAutoFit/>
          </a:bodyPr>
          <a:lstStyle/>
          <a:p>
            <a:pPr>
              <a:defRPr sz="1300" b="1">
                <a:solidFill>
                  <a:srgbClr val="2563EB"/>
                </a:solidFill>
                <a:latin typeface="Arial"/>
              </a:defRPr>
            </a:pPr>
            <a:r>
              <a:t>2. Stock Solutions &amp; Dilutions</a:t>
            </a:r>
          </a:p>
        </p:txBody>
      </p:sp>
      <p:sp>
        <p:nvSpPr>
          <p:cNvPr id="16" name="TextBox 15"/>
          <p:cNvSpPr txBox="1"/>
          <p:nvPr/>
        </p:nvSpPr>
        <p:spPr>
          <a:xfrm>
            <a:off x="8138160" y="1645920"/>
            <a:ext cx="3063240" cy="548640"/>
          </a:xfrm>
          <a:prstGeom prst="rect">
            <a:avLst/>
          </a:prstGeom>
          <a:noFill/>
        </p:spPr>
        <p:txBody>
          <a:bodyPr wrap="none">
            <a:spAutoFit/>
          </a:bodyPr>
          <a:lstStyle/>
          <a:p>
            <a:pPr>
              <a:defRPr sz="1300" b="1">
                <a:solidFill>
                  <a:srgbClr val="2563EB"/>
                </a:solidFill>
                <a:latin typeface="Arial"/>
              </a:defRPr>
            </a:pPr>
            <a:r>
              <a:t>3. Ionic Strength Calculation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lIns="0" rIns="0" tIns="0" bIns="0">
            <a:spAutoFit/>
          </a:bodyPr>
          <a:lstStyle/>
          <a:p>
            <a:pPr>
              <a:defRPr sz="1000" b="1">
                <a:solidFill>
                  <a:srgbClr val="0D9488"/>
                </a:solidFill>
                <a:latin typeface="Arial"/>
              </a:defRPr>
            </a:pPr>
            <a:r>
              <a:t>COFACTORS &amp; METAL IONS</a:t>
            </a:r>
          </a:p>
        </p:txBody>
      </p:sp>
      <p:sp>
        <p:nvSpPr>
          <p:cNvPr id="4" name="TextBox 3"/>
          <p:cNvSpPr txBox="1"/>
          <p:nvPr/>
        </p:nvSpPr>
        <p:spPr>
          <a:xfrm>
            <a:off x="731520" y="685800"/>
            <a:ext cx="10698480" cy="594360"/>
          </a:xfrm>
          <a:prstGeom prst="rect">
            <a:avLst/>
          </a:prstGeom>
          <a:noFill/>
        </p:spPr>
        <p:txBody>
          <a:bodyPr wrap="square" lIns="0" rIns="0" tIns="0" bIns="0">
            <a:spAutoFit/>
          </a:bodyPr>
          <a:lstStyle/>
          <a:p>
            <a:pPr>
              <a:defRPr sz="2200" b="1">
                <a:solidFill>
                  <a:srgbClr val="0F172A"/>
                </a:solidFill>
                <a:latin typeface="Arial"/>
              </a:defRPr>
            </a:pPr>
            <a:r>
              <a:t>Managing Divalent Cations &amp; Chelating Systems</a:t>
            </a:r>
          </a:p>
        </p:txBody>
      </p:sp>
      <p:sp>
        <p:nvSpPr>
          <p:cNvPr id="5" name="Rounded Rectangle 4"/>
          <p:cNvSpPr/>
          <p:nvPr/>
        </p:nvSpPr>
        <p:spPr>
          <a:xfrm>
            <a:off x="731520" y="1463040"/>
            <a:ext cx="5212080" cy="38404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4846320" cy="457200"/>
          </a:xfrm>
          <a:prstGeom prst="rect">
            <a:avLst/>
          </a:prstGeom>
          <a:noFill/>
        </p:spPr>
        <p:txBody>
          <a:bodyPr wrap="none">
            <a:spAutoFit/>
          </a:bodyPr>
          <a:lstStyle/>
          <a:p>
            <a:pPr>
              <a:defRPr sz="1400" b="1">
                <a:solidFill>
                  <a:srgbClr val="2563EB"/>
                </a:solidFill>
                <a:latin typeface="Arial"/>
              </a:defRPr>
            </a:pPr>
            <a:r>
              <a:t>Essential Metal Cofactors (Mg2+, Zn2+, Mn2+, Ca2+)</a:t>
            </a:r>
          </a:p>
        </p:txBody>
      </p:sp>
      <p:sp>
        <p:nvSpPr>
          <p:cNvPr id="7" name="TextBox 6"/>
          <p:cNvSpPr txBox="1"/>
          <p:nvPr/>
        </p:nvSpPr>
        <p:spPr>
          <a:xfrm>
            <a:off x="914400" y="2103120"/>
            <a:ext cx="4846320" cy="3017520"/>
          </a:xfrm>
          <a:prstGeom prst="rect">
            <a:avLst/>
          </a:prstGeom>
          <a:noFill/>
        </p:spPr>
        <p:txBody>
          <a:bodyPr wrap="square">
            <a:spAutoFit/>
          </a:bodyPr>
          <a:lstStyle/>
          <a:p>
            <a:pPr>
              <a:defRPr sz="1100">
                <a:solidFill>
                  <a:srgbClr val="0F172A"/>
                </a:solidFill>
                <a:latin typeface="Arial"/>
              </a:defRPr>
            </a:pPr>
            <a:r>
              <a:t>• Catalytic Roles: Direct coordination to substrate, polarizing bonds for nucleophilic attack (e.g., Zn2+ in carbonic anhydrase, carboxypeptidase).</a:t>
            </a:r>
          </a:p>
          <a:p>
            <a:pPr>
              <a:defRPr sz="1100">
                <a:solidFill>
                  <a:srgbClr val="0F172A"/>
                </a:solidFill>
                <a:latin typeface="Arial"/>
              </a:defRPr>
            </a:pPr>
          </a:p>
          <a:p>
            <a:pPr>
              <a:defRPr sz="1100">
                <a:solidFill>
                  <a:srgbClr val="0F172A"/>
                </a:solidFill>
                <a:latin typeface="Arial"/>
              </a:defRPr>
            </a:pPr>
            <a:r>
              <a:t>• Substrate Coordination (The Mg-ATP Complex):</a:t>
            </a:r>
          </a:p>
          <a:p>
            <a:pPr>
              <a:defRPr sz="1100">
                <a:solidFill>
                  <a:srgbClr val="0F172A"/>
                </a:solidFill>
                <a:latin typeface="Arial"/>
              </a:defRPr>
            </a:pPr>
            <a:r>
              <a:t>  In kinase and ATPase assays, free ATP4- is NOT the substrate!</a:t>
            </a:r>
          </a:p>
          <a:p>
            <a:pPr>
              <a:defRPr sz="1100">
                <a:solidFill>
                  <a:srgbClr val="0F172A"/>
                </a:solidFill>
                <a:latin typeface="Arial"/>
              </a:defRPr>
            </a:pPr>
            <a:r>
              <a:t>  The true substrate is the coordination complex Mg*ATP(2-).</a:t>
            </a:r>
          </a:p>
          <a:p>
            <a:pPr>
              <a:defRPr sz="1100">
                <a:solidFill>
                  <a:srgbClr val="0F172A"/>
                </a:solidFill>
                <a:latin typeface="Arial"/>
              </a:defRPr>
            </a:pPr>
            <a:r>
              <a:t>  Free ATP4- often acts as a competitive inhibitor of the enzyme.</a:t>
            </a:r>
          </a:p>
          <a:p>
            <a:pPr>
              <a:defRPr sz="1100">
                <a:solidFill>
                  <a:srgbClr val="0F172A"/>
                </a:solidFill>
                <a:latin typeface="Arial"/>
              </a:defRPr>
            </a:pPr>
            <a:r>
              <a:t>  Therefore, [Mg2+] must always exceed [ATP] by 1 to 5 mM.</a:t>
            </a:r>
          </a:p>
          <a:p>
            <a:pPr>
              <a:defRPr sz="1100">
                <a:solidFill>
                  <a:srgbClr val="0F172A"/>
                </a:solidFill>
                <a:latin typeface="Arial"/>
              </a:defRPr>
            </a:pPr>
          </a:p>
          <a:p>
            <a:pPr>
              <a:defRPr sz="1100">
                <a:solidFill>
                  <a:srgbClr val="0F172A"/>
                </a:solidFill>
                <a:latin typeface="Arial"/>
              </a:defRPr>
            </a:pPr>
            <a:r>
              <a:t>• Structural Roles: Ca2+ in thermolysin and trypsin prevents autolysis and stabilizes tertiary loops.</a:t>
            </a:r>
          </a:p>
        </p:txBody>
      </p:sp>
      <p:sp>
        <p:nvSpPr>
          <p:cNvPr id="8" name="Rounded Rectangle 7"/>
          <p:cNvSpPr/>
          <p:nvPr/>
        </p:nvSpPr>
        <p:spPr>
          <a:xfrm>
            <a:off x="6217920" y="1463040"/>
            <a:ext cx="5212080" cy="38404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645920"/>
            <a:ext cx="4846320" cy="457200"/>
          </a:xfrm>
          <a:prstGeom prst="rect">
            <a:avLst/>
          </a:prstGeom>
          <a:noFill/>
        </p:spPr>
        <p:txBody>
          <a:bodyPr wrap="none">
            <a:spAutoFit/>
          </a:bodyPr>
          <a:lstStyle/>
          <a:p>
            <a:pPr>
              <a:defRPr sz="1400" b="1">
                <a:solidFill>
                  <a:srgbClr val="0D9488"/>
                </a:solidFill>
                <a:latin typeface="Arial"/>
              </a:defRPr>
            </a:pPr>
            <a:r>
              <a:t>The Chelator Strategy (EDTA vs. EGTA)</a:t>
            </a:r>
          </a:p>
        </p:txBody>
      </p:sp>
      <p:sp>
        <p:nvSpPr>
          <p:cNvPr id="10" name="TextBox 9"/>
          <p:cNvSpPr txBox="1"/>
          <p:nvPr/>
        </p:nvSpPr>
        <p:spPr>
          <a:xfrm>
            <a:off x="6400800" y="2103120"/>
            <a:ext cx="4846320" cy="3017520"/>
          </a:xfrm>
          <a:prstGeom prst="rect">
            <a:avLst/>
          </a:prstGeom>
          <a:noFill/>
        </p:spPr>
        <p:txBody>
          <a:bodyPr wrap="square">
            <a:spAutoFit/>
          </a:bodyPr>
          <a:lstStyle/>
          <a:p>
            <a:pPr>
              <a:defRPr sz="1100">
                <a:solidFill>
                  <a:srgbClr val="0F172A"/>
                </a:solidFill>
                <a:latin typeface="Arial"/>
              </a:defRPr>
            </a:pPr>
            <a:r>
              <a:t>• Purpose of Chelators:</a:t>
            </a:r>
          </a:p>
          <a:p>
            <a:pPr>
              <a:defRPr sz="1100">
                <a:solidFill>
                  <a:srgbClr val="0F172A"/>
                </a:solidFill>
                <a:latin typeface="Arial"/>
              </a:defRPr>
            </a:pPr>
            <a:r>
              <a:t>  Scavenge trace heavy metal poisons (Cu2+, Pb2+, Hg2+, Fe3+) that bind and irreversibly inactivate catalytic thiols (Cys).</a:t>
            </a:r>
          </a:p>
          <a:p>
            <a:pPr>
              <a:defRPr sz="1100">
                <a:solidFill>
                  <a:srgbClr val="0F172A"/>
                </a:solidFill>
                <a:latin typeface="Arial"/>
              </a:defRPr>
            </a:pPr>
          </a:p>
          <a:p>
            <a:pPr>
              <a:defRPr sz="1100">
                <a:solidFill>
                  <a:srgbClr val="0F172A"/>
                </a:solidFill>
                <a:latin typeface="Arial"/>
              </a:defRPr>
            </a:pPr>
            <a:r>
              <a:t>• EDTA (Ethylenediaminetetraacetic acid):</a:t>
            </a:r>
          </a:p>
          <a:p>
            <a:pPr>
              <a:defRPr sz="1100">
                <a:solidFill>
                  <a:srgbClr val="0F172A"/>
                </a:solidFill>
                <a:latin typeface="Arial"/>
              </a:defRPr>
            </a:pPr>
            <a:r>
              <a:t>  Broad-spectrum chelator. High affinity for Mg2+, Ca2+, Zn2+, Cu2+.</a:t>
            </a:r>
          </a:p>
          <a:p>
            <a:pPr>
              <a:defRPr sz="1100">
                <a:solidFill>
                  <a:srgbClr val="0F172A"/>
                </a:solidFill>
                <a:latin typeface="Arial"/>
              </a:defRPr>
            </a:pPr>
            <a:r>
              <a:t>  Risk: Strips essential catalytic Mg2+ if concentration is too high!</a:t>
            </a:r>
          </a:p>
          <a:p>
            <a:pPr>
              <a:defRPr sz="1100">
                <a:solidFill>
                  <a:srgbClr val="0F172A"/>
                </a:solidFill>
                <a:latin typeface="Arial"/>
              </a:defRPr>
            </a:pPr>
          </a:p>
          <a:p>
            <a:pPr>
              <a:defRPr sz="1100">
                <a:solidFill>
                  <a:srgbClr val="0F172A"/>
                </a:solidFill>
                <a:latin typeface="Arial"/>
              </a:defRPr>
            </a:pPr>
            <a:r>
              <a:t>• EGTA (Ethylene glycol tetraacetic acid):</a:t>
            </a:r>
          </a:p>
          <a:p>
            <a:pPr>
              <a:defRPr sz="1100">
                <a:solidFill>
                  <a:srgbClr val="0F172A"/>
                </a:solidFill>
                <a:latin typeface="Arial"/>
              </a:defRPr>
            </a:pPr>
            <a:r>
              <a:t>  Highly selective for Ca2+ over Mg2+ (affinity for Ca2+ is ~100,000x higher).</a:t>
            </a:r>
          </a:p>
          <a:p>
            <a:pPr>
              <a:defRPr sz="1100">
                <a:solidFill>
                  <a:srgbClr val="0F172A"/>
                </a:solidFill>
                <a:latin typeface="Arial"/>
              </a:defRPr>
            </a:pPr>
            <a:r>
              <a:t>  Indispensable when studying Mg2+-dependent enzymes in the presence of trace Ca2+ contaminants.</a:t>
            </a:r>
          </a:p>
        </p:txBody>
      </p:sp>
      <p:sp>
        <p:nvSpPr>
          <p:cNvPr id="11" name="Rounded Rectangle 10"/>
          <p:cNvSpPr/>
          <p:nvPr/>
        </p:nvSpPr>
        <p:spPr>
          <a:xfrm>
            <a:off x="731520" y="5486400"/>
            <a:ext cx="10698480" cy="914400"/>
          </a:xfrm>
          <a:prstGeom prst="roundRect">
            <a:avLst/>
          </a:prstGeom>
          <a:solidFill>
            <a:srgbClr val="FEF3C7"/>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577840"/>
            <a:ext cx="10332720" cy="731520"/>
          </a:xfrm>
          <a:prstGeom prst="rect">
            <a:avLst/>
          </a:prstGeom>
          <a:noFill/>
        </p:spPr>
        <p:txBody>
          <a:bodyPr wrap="square">
            <a:spAutoFit/>
          </a:bodyPr>
          <a:lstStyle/>
          <a:p>
            <a:pPr>
              <a:defRPr sz="1100" b="1">
                <a:solidFill>
                  <a:srgbClr val="D97706"/>
                </a:solidFill>
                <a:latin typeface="Arial"/>
              </a:defRPr>
            </a:pPr>
            <a:r>
              <a:t>CRITICAL INCOMPATIBILITY WARNING:</a:t>
            </a:r>
          </a:p>
          <a:p>
            <a:pPr>
              <a:defRPr sz="1100">
                <a:solidFill>
                  <a:srgbClr val="0F172A"/>
                </a:solidFill>
                <a:latin typeface="Arial"/>
              </a:defRPr>
            </a:pPr>
            <a:r>
              <a:t>Never formulate divalent metal ions (Mg2+, Ca2+, Mn2+) in phosphate, carbonate, or pyrophosphate buffers! Insoluble metal-phosphate salts precipitate out immediately, depleting both your essential cofactor and your buffer capacity.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lIns="0" rIns="0" tIns="0" bIns="0">
            <a:spAutoFit/>
          </a:bodyPr>
          <a:lstStyle/>
          <a:p>
            <a:pPr>
              <a:defRPr sz="1000" b="1">
                <a:solidFill>
                  <a:srgbClr val="0D9488"/>
                </a:solidFill>
                <a:latin typeface="Arial"/>
              </a:defRPr>
            </a:pPr>
            <a:r>
              <a:t>REDOX CHEMISTRY</a:t>
            </a:r>
          </a:p>
        </p:txBody>
      </p:sp>
      <p:sp>
        <p:nvSpPr>
          <p:cNvPr id="4" name="TextBox 3"/>
          <p:cNvSpPr txBox="1"/>
          <p:nvPr/>
        </p:nvSpPr>
        <p:spPr>
          <a:xfrm>
            <a:off x="731520" y="685800"/>
            <a:ext cx="10698480" cy="594360"/>
          </a:xfrm>
          <a:prstGeom prst="rect">
            <a:avLst/>
          </a:prstGeom>
          <a:noFill/>
        </p:spPr>
        <p:txBody>
          <a:bodyPr wrap="square" lIns="0" rIns="0" tIns="0" bIns="0">
            <a:spAutoFit/>
          </a:bodyPr>
          <a:lstStyle/>
          <a:p>
            <a:pPr>
              <a:defRPr sz="2200" b="1">
                <a:solidFill>
                  <a:srgbClr val="0F172A"/>
                </a:solidFill>
                <a:latin typeface="Arial"/>
              </a:defRPr>
            </a:pPr>
            <a:r>
              <a:t>Protecting Catalytic Thiols: Reducing Agents Compared</a:t>
            </a:r>
          </a:p>
        </p:txBody>
      </p:sp>
      <p:sp>
        <p:nvSpPr>
          <p:cNvPr id="5" name="Rounded Rectangle 4"/>
          <p:cNvSpPr/>
          <p:nvPr/>
        </p:nvSpPr>
        <p:spPr>
          <a:xfrm>
            <a:off x="731520" y="1463040"/>
            <a:ext cx="342900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463040"/>
            <a:ext cx="3429000" cy="7315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45920"/>
            <a:ext cx="3063240" cy="548640"/>
          </a:xfrm>
          <a:prstGeom prst="rect">
            <a:avLst/>
          </a:prstGeom>
          <a:noFill/>
        </p:spPr>
        <p:txBody>
          <a:bodyPr wrap="none">
            <a:spAutoFit/>
          </a:bodyPr>
          <a:lstStyle/>
          <a:p>
            <a:pPr>
              <a:defRPr sz="1300" b="1">
                <a:solidFill>
                  <a:srgbClr val="0F172A"/>
                </a:solidFill>
                <a:latin typeface="Arial"/>
              </a:defRPr>
            </a:pPr>
            <a:r>
              <a:t>beta-Mercaptoethanol (b-ME)</a:t>
            </a:r>
          </a:p>
        </p:txBody>
      </p:sp>
      <p:sp>
        <p:nvSpPr>
          <p:cNvPr id="8" name="TextBox 7"/>
          <p:cNvSpPr txBox="1"/>
          <p:nvPr/>
        </p:nvSpPr>
        <p:spPr>
          <a:xfrm>
            <a:off x="914400" y="2194560"/>
            <a:ext cx="3063240" cy="3931920"/>
          </a:xfrm>
          <a:prstGeom prst="rect">
            <a:avLst/>
          </a:prstGeom>
          <a:noFill/>
        </p:spPr>
        <p:txBody>
          <a:bodyPr wrap="square">
            <a:spAutoFit/>
          </a:bodyPr>
          <a:lstStyle/>
          <a:p>
            <a:pPr>
              <a:defRPr sz="1100">
                <a:solidFill>
                  <a:srgbClr val="0F172A"/>
                </a:solidFill>
                <a:latin typeface="Arial"/>
              </a:defRPr>
            </a:pPr>
            <a:r>
              <a:t>• Concentration: 5 – 20 mM</a:t>
            </a:r>
          </a:p>
          <a:p>
            <a:pPr>
              <a:defRPr sz="1100">
                <a:solidFill>
                  <a:srgbClr val="0F172A"/>
                </a:solidFill>
                <a:latin typeface="Arial"/>
              </a:defRPr>
            </a:pPr>
          </a:p>
          <a:p>
            <a:pPr>
              <a:defRPr sz="1100">
                <a:solidFill>
                  <a:srgbClr val="0F172A"/>
                </a:solidFill>
                <a:latin typeface="Arial"/>
              </a:defRPr>
            </a:pPr>
            <a:r>
              <a:t>• Chemistry: Monothiol (-SH)</a:t>
            </a:r>
          </a:p>
          <a:p>
            <a:pPr>
              <a:defRPr sz="1100">
                <a:solidFill>
                  <a:srgbClr val="0F172A"/>
                </a:solidFill>
                <a:latin typeface="Arial"/>
              </a:defRPr>
            </a:pPr>
          </a:p>
          <a:p>
            <a:pPr>
              <a:defRPr sz="1100">
                <a:solidFill>
                  <a:srgbClr val="0F172A"/>
                </a:solidFill>
                <a:latin typeface="Arial"/>
              </a:defRPr>
            </a:pPr>
            <a:r>
              <a:t>• Characteristics:</a:t>
            </a:r>
          </a:p>
          <a:p>
            <a:pPr>
              <a:defRPr sz="1100">
                <a:solidFill>
                  <a:srgbClr val="0F172A"/>
                </a:solidFill>
                <a:latin typeface="Arial"/>
              </a:defRPr>
            </a:pPr>
            <a:r>
              <a:t>  - Very inexpensive, historically ubiquitous.</a:t>
            </a:r>
          </a:p>
          <a:p>
            <a:pPr>
              <a:defRPr sz="1100">
                <a:solidFill>
                  <a:srgbClr val="0F172A"/>
                </a:solidFill>
                <a:latin typeface="Arial"/>
              </a:defRPr>
            </a:pPr>
            <a:r>
              <a:t>  - Highly volatile with a pungent, noxious odor.</a:t>
            </a:r>
          </a:p>
          <a:p>
            <a:pPr>
              <a:defRPr sz="1100">
                <a:solidFill>
                  <a:srgbClr val="0F172A"/>
                </a:solidFill>
                <a:latin typeface="Arial"/>
              </a:defRPr>
            </a:pPr>
            <a:r>
              <a:t>  - Prone to rapid air oxidation (half-life &lt; 4 hours at pH 8.0).</a:t>
            </a:r>
          </a:p>
          <a:p>
            <a:pPr>
              <a:defRPr sz="1100">
                <a:solidFill>
                  <a:srgbClr val="0F172A"/>
                </a:solidFill>
                <a:latin typeface="Arial"/>
              </a:defRPr>
            </a:pPr>
            <a:r>
              <a:t>  - Requires large molar excess due to equilibrium limitations.</a:t>
            </a:r>
          </a:p>
          <a:p>
            <a:pPr>
              <a:defRPr sz="1100">
                <a:solidFill>
                  <a:srgbClr val="0F172A"/>
                </a:solidFill>
                <a:latin typeface="Arial"/>
              </a:defRPr>
            </a:pPr>
          </a:p>
          <a:p>
            <a:pPr>
              <a:defRPr sz="1100">
                <a:solidFill>
                  <a:srgbClr val="0F172A"/>
                </a:solidFill>
                <a:latin typeface="Arial"/>
              </a:defRPr>
            </a:pPr>
            <a:r>
              <a:t>• Verdict: Avoid in modern automated assays and high-throughput screens.</a:t>
            </a:r>
          </a:p>
        </p:txBody>
      </p:sp>
      <p:sp>
        <p:nvSpPr>
          <p:cNvPr id="9" name="Rounded Rectangle 8"/>
          <p:cNvSpPr/>
          <p:nvPr/>
        </p:nvSpPr>
        <p:spPr>
          <a:xfrm>
            <a:off x="4343400" y="1463040"/>
            <a:ext cx="342900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43400" y="1463040"/>
            <a:ext cx="3429000"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645920"/>
            <a:ext cx="3063240" cy="548640"/>
          </a:xfrm>
          <a:prstGeom prst="rect">
            <a:avLst/>
          </a:prstGeom>
          <a:noFill/>
        </p:spPr>
        <p:txBody>
          <a:bodyPr wrap="none">
            <a:spAutoFit/>
          </a:bodyPr>
          <a:lstStyle/>
          <a:p>
            <a:pPr>
              <a:defRPr sz="1300" b="1">
                <a:solidFill>
                  <a:srgbClr val="2563EB"/>
                </a:solidFill>
                <a:latin typeface="Arial"/>
              </a:defRPr>
            </a:pPr>
            <a:r>
              <a:t>Dithiothreitol (DTT)</a:t>
            </a:r>
          </a:p>
        </p:txBody>
      </p:sp>
      <p:sp>
        <p:nvSpPr>
          <p:cNvPr id="12" name="TextBox 11"/>
          <p:cNvSpPr txBox="1"/>
          <p:nvPr/>
        </p:nvSpPr>
        <p:spPr>
          <a:xfrm>
            <a:off x="4526280" y="2194560"/>
            <a:ext cx="3063240" cy="3931920"/>
          </a:xfrm>
          <a:prstGeom prst="rect">
            <a:avLst/>
          </a:prstGeom>
          <a:noFill/>
        </p:spPr>
        <p:txBody>
          <a:bodyPr wrap="square">
            <a:spAutoFit/>
          </a:bodyPr>
          <a:lstStyle/>
          <a:p>
            <a:pPr>
              <a:defRPr sz="1100">
                <a:solidFill>
                  <a:srgbClr val="0F172A"/>
                </a:solidFill>
                <a:latin typeface="Arial"/>
              </a:defRPr>
            </a:pPr>
            <a:r>
              <a:t>• Concentration: 0.5 – 5 mM</a:t>
            </a:r>
          </a:p>
          <a:p>
            <a:pPr>
              <a:defRPr sz="1100">
                <a:solidFill>
                  <a:srgbClr val="0F172A"/>
                </a:solidFill>
                <a:latin typeface="Arial"/>
              </a:defRPr>
            </a:pPr>
          </a:p>
          <a:p>
            <a:pPr>
              <a:defRPr sz="1100">
                <a:solidFill>
                  <a:srgbClr val="0F172A"/>
                </a:solidFill>
                <a:latin typeface="Arial"/>
              </a:defRPr>
            </a:pPr>
            <a:r>
              <a:t>• Chemistry: Dithiol (Cleland's Reagent)</a:t>
            </a:r>
          </a:p>
          <a:p>
            <a:pPr>
              <a:defRPr sz="1100">
                <a:solidFill>
                  <a:srgbClr val="0F172A"/>
                </a:solidFill>
                <a:latin typeface="Arial"/>
              </a:defRPr>
            </a:pPr>
          </a:p>
          <a:p>
            <a:pPr>
              <a:defRPr sz="1100">
                <a:solidFill>
                  <a:srgbClr val="0F172A"/>
                </a:solidFill>
                <a:latin typeface="Arial"/>
              </a:defRPr>
            </a:pPr>
            <a:r>
              <a:t>• Characteristics:</a:t>
            </a:r>
          </a:p>
          <a:p>
            <a:pPr>
              <a:defRPr sz="1100">
                <a:solidFill>
                  <a:srgbClr val="0F172A"/>
                </a:solidFill>
                <a:latin typeface="Arial"/>
              </a:defRPr>
            </a:pPr>
            <a:r>
              <a:t>  - Forms stable 6-membered intramolecular cyclic disulfide upon oxidation.</a:t>
            </a:r>
          </a:p>
          <a:p>
            <a:pPr>
              <a:defRPr sz="1100">
                <a:solidFill>
                  <a:srgbClr val="0F172A"/>
                </a:solidFill>
                <a:latin typeface="Arial"/>
              </a:defRPr>
            </a:pPr>
            <a:r>
              <a:t>  - Significantly lower redox potential than b-ME.</a:t>
            </a:r>
          </a:p>
          <a:p>
            <a:pPr>
              <a:defRPr sz="1100">
                <a:solidFill>
                  <a:srgbClr val="0F172A"/>
                </a:solidFill>
                <a:latin typeface="Arial"/>
              </a:defRPr>
            </a:pPr>
            <a:r>
              <a:t>  - Odorless at working concentrations.</a:t>
            </a:r>
          </a:p>
          <a:p>
            <a:pPr>
              <a:defRPr sz="1100">
                <a:solidFill>
                  <a:srgbClr val="0F172A"/>
                </a:solidFill>
                <a:latin typeface="Arial"/>
              </a:defRPr>
            </a:pPr>
            <a:r>
              <a:t>  - Susceptible to air oxidation over 24h at room temp.</a:t>
            </a:r>
          </a:p>
          <a:p>
            <a:pPr>
              <a:defRPr sz="1100">
                <a:solidFill>
                  <a:srgbClr val="0F172A"/>
                </a:solidFill>
                <a:latin typeface="Arial"/>
              </a:defRPr>
            </a:pPr>
            <a:r>
              <a:t>  - Generates UV absorbance at &lt; 280 nm.</a:t>
            </a:r>
          </a:p>
          <a:p>
            <a:pPr>
              <a:defRPr sz="1100">
                <a:solidFill>
                  <a:srgbClr val="0F172A"/>
                </a:solidFill>
                <a:latin typeface="Arial"/>
              </a:defRPr>
            </a:pPr>
          </a:p>
          <a:p>
            <a:pPr>
              <a:defRPr sz="1100">
                <a:solidFill>
                  <a:srgbClr val="0F172A"/>
                </a:solidFill>
                <a:latin typeface="Arial"/>
              </a:defRPr>
            </a:pPr>
            <a:r>
              <a:t>• Verdict: Standard choice for routine enzyme kinetics.</a:t>
            </a:r>
          </a:p>
        </p:txBody>
      </p:sp>
      <p:sp>
        <p:nvSpPr>
          <p:cNvPr id="13" name="Rounded Rectangle 12"/>
          <p:cNvSpPr/>
          <p:nvPr/>
        </p:nvSpPr>
        <p:spPr>
          <a:xfrm>
            <a:off x="7955280" y="1463040"/>
            <a:ext cx="342900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55280" y="1463040"/>
            <a:ext cx="3429000"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38160" y="1645920"/>
            <a:ext cx="3063240" cy="548640"/>
          </a:xfrm>
          <a:prstGeom prst="rect">
            <a:avLst/>
          </a:prstGeom>
          <a:noFill/>
        </p:spPr>
        <p:txBody>
          <a:bodyPr wrap="none">
            <a:spAutoFit/>
          </a:bodyPr>
          <a:lstStyle/>
          <a:p>
            <a:pPr>
              <a:defRPr sz="1300" b="1">
                <a:solidFill>
                  <a:srgbClr val="0D9488"/>
                </a:solidFill>
                <a:latin typeface="Arial"/>
              </a:defRPr>
            </a:pPr>
            <a:r>
              <a:t>TCEP-HCl</a:t>
            </a:r>
          </a:p>
        </p:txBody>
      </p:sp>
      <p:sp>
        <p:nvSpPr>
          <p:cNvPr id="16" name="TextBox 15"/>
          <p:cNvSpPr txBox="1"/>
          <p:nvPr/>
        </p:nvSpPr>
        <p:spPr>
          <a:xfrm>
            <a:off x="8138160" y="2194560"/>
            <a:ext cx="3063240" cy="3931920"/>
          </a:xfrm>
          <a:prstGeom prst="rect">
            <a:avLst/>
          </a:prstGeom>
          <a:noFill/>
        </p:spPr>
        <p:txBody>
          <a:bodyPr wrap="square">
            <a:spAutoFit/>
          </a:bodyPr>
          <a:lstStyle/>
          <a:p>
            <a:pPr>
              <a:defRPr sz="1100">
                <a:solidFill>
                  <a:srgbClr val="0F172A"/>
                </a:solidFill>
                <a:latin typeface="Arial"/>
              </a:defRPr>
            </a:pPr>
            <a:r>
              <a:t>• Concentration: 0.5 – 2 mM</a:t>
            </a:r>
          </a:p>
          <a:p>
            <a:pPr>
              <a:defRPr sz="1100">
                <a:solidFill>
                  <a:srgbClr val="0F172A"/>
                </a:solidFill>
                <a:latin typeface="Arial"/>
              </a:defRPr>
            </a:pPr>
          </a:p>
          <a:p>
            <a:pPr>
              <a:defRPr sz="1100">
                <a:solidFill>
                  <a:srgbClr val="0F172A"/>
                </a:solidFill>
                <a:latin typeface="Arial"/>
              </a:defRPr>
            </a:pPr>
            <a:r>
              <a:t>• Chemistry: Phosphine-based (Non-thiol)</a:t>
            </a:r>
          </a:p>
          <a:p>
            <a:pPr>
              <a:defRPr sz="1100">
                <a:solidFill>
                  <a:srgbClr val="0F172A"/>
                </a:solidFill>
                <a:latin typeface="Arial"/>
              </a:defRPr>
            </a:pPr>
          </a:p>
          <a:p>
            <a:pPr>
              <a:defRPr sz="1100">
                <a:solidFill>
                  <a:srgbClr val="0F172A"/>
                </a:solidFill>
                <a:latin typeface="Arial"/>
              </a:defRPr>
            </a:pPr>
            <a:r>
              <a:t>• Characteristics:</a:t>
            </a:r>
          </a:p>
          <a:p>
            <a:pPr>
              <a:defRPr sz="1100">
                <a:solidFill>
                  <a:srgbClr val="0F172A"/>
                </a:solidFill>
                <a:latin typeface="Arial"/>
              </a:defRPr>
            </a:pPr>
            <a:r>
              <a:t>  - Odorless, completely resistant to air oxidation.</a:t>
            </a:r>
          </a:p>
          <a:p>
            <a:pPr>
              <a:defRPr sz="1100">
                <a:solidFill>
                  <a:srgbClr val="0F172A"/>
                </a:solidFill>
                <a:latin typeface="Arial"/>
              </a:defRPr>
            </a:pPr>
            <a:r>
              <a:t>  - Stable in aqueous solution across pH 1.5 to 8.5.</a:t>
            </a:r>
          </a:p>
          <a:p>
            <a:pPr>
              <a:defRPr sz="1100">
                <a:solidFill>
                  <a:srgbClr val="0F172A"/>
                </a:solidFill>
                <a:latin typeface="Arial"/>
              </a:defRPr>
            </a:pPr>
            <a:r>
              <a:t>  - Does NOT absorb UV light at 280 nm.</a:t>
            </a:r>
          </a:p>
          <a:p>
            <a:pPr>
              <a:defRPr sz="1100">
                <a:solidFill>
                  <a:srgbClr val="0F172A"/>
                </a:solidFill>
                <a:latin typeface="Arial"/>
              </a:defRPr>
            </a:pPr>
            <a:r>
              <a:t>  - Compatible with thiol-reactive probes (maleimides).</a:t>
            </a:r>
          </a:p>
          <a:p>
            <a:pPr>
              <a:defRPr sz="1100">
                <a:solidFill>
                  <a:srgbClr val="0F172A"/>
                </a:solidFill>
                <a:latin typeface="Arial"/>
              </a:defRPr>
            </a:pPr>
            <a:r>
              <a:t>  - Caution: Can form adducts with NAD(P)+ and inhibit dehydrogenases.</a:t>
            </a:r>
          </a:p>
          <a:p>
            <a:pPr>
              <a:defRPr sz="1100">
                <a:solidFill>
                  <a:srgbClr val="0F172A"/>
                </a:solidFill>
                <a:latin typeface="Arial"/>
              </a:defRPr>
            </a:pPr>
          </a:p>
          <a:p>
            <a:pPr>
              <a:defRPr sz="1100">
                <a:solidFill>
                  <a:srgbClr val="0F172A"/>
                </a:solidFill>
                <a:latin typeface="Arial"/>
              </a:defRPr>
            </a:pPr>
            <a:r>
              <a:t>• Verdict: Gold standard for long-term assays and biophysical studies.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lIns="0" rIns="0" tIns="0" bIns="0">
            <a:spAutoFit/>
          </a:bodyPr>
          <a:lstStyle/>
          <a:p>
            <a:pPr>
              <a:defRPr sz="1000" b="1">
                <a:solidFill>
                  <a:srgbClr val="0D9488"/>
                </a:solidFill>
                <a:latin typeface="Arial"/>
              </a:defRPr>
            </a:pPr>
            <a:r>
              <a:t>ENZYME PRESERVATION</a:t>
            </a:r>
          </a:p>
        </p:txBody>
      </p:sp>
      <p:sp>
        <p:nvSpPr>
          <p:cNvPr id="4" name="TextBox 3"/>
          <p:cNvSpPr txBox="1"/>
          <p:nvPr/>
        </p:nvSpPr>
        <p:spPr>
          <a:xfrm>
            <a:off x="731520" y="685800"/>
            <a:ext cx="10698480" cy="594360"/>
          </a:xfrm>
          <a:prstGeom prst="rect">
            <a:avLst/>
          </a:prstGeom>
          <a:noFill/>
        </p:spPr>
        <p:txBody>
          <a:bodyPr wrap="square" lIns="0" rIns="0" tIns="0" bIns="0">
            <a:spAutoFit/>
          </a:bodyPr>
          <a:lstStyle/>
          <a:p>
            <a:pPr>
              <a:defRPr sz="2200" b="1">
                <a:solidFill>
                  <a:srgbClr val="0F172A"/>
                </a:solidFill>
                <a:latin typeface="Arial"/>
              </a:defRPr>
            </a:pPr>
            <a:r>
              <a:t>Enzyme Stabilizers &amp; Additives: Preventing Inactivation</a:t>
            </a:r>
          </a:p>
        </p:txBody>
      </p:sp>
      <p:sp>
        <p:nvSpPr>
          <p:cNvPr id="5" name="Rounded Rectangle 4"/>
          <p:cNvSpPr/>
          <p:nvPr/>
        </p:nvSpPr>
        <p:spPr>
          <a:xfrm>
            <a:off x="731520" y="1463040"/>
            <a:ext cx="5257800" cy="2240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00200"/>
            <a:ext cx="4892040" cy="365760"/>
          </a:xfrm>
          <a:prstGeom prst="rect">
            <a:avLst/>
          </a:prstGeom>
          <a:noFill/>
        </p:spPr>
        <p:txBody>
          <a:bodyPr wrap="none">
            <a:spAutoFit/>
          </a:bodyPr>
          <a:lstStyle/>
          <a:p>
            <a:pPr>
              <a:defRPr sz="1300" b="1">
                <a:solidFill>
                  <a:srgbClr val="2563EB"/>
                </a:solidFill>
                <a:latin typeface="Arial"/>
              </a:defRPr>
            </a:pPr>
            <a:r>
              <a:t>1. Carrier Proteins (BSA)</a:t>
            </a:r>
          </a:p>
        </p:txBody>
      </p:sp>
      <p:sp>
        <p:nvSpPr>
          <p:cNvPr id="7" name="TextBox 6"/>
          <p:cNvSpPr txBox="1"/>
          <p:nvPr/>
        </p:nvSpPr>
        <p:spPr>
          <a:xfrm>
            <a:off x="914400" y="2011680"/>
            <a:ext cx="4892040" cy="1600200"/>
          </a:xfrm>
          <a:prstGeom prst="rect">
            <a:avLst/>
          </a:prstGeom>
          <a:noFill/>
        </p:spPr>
        <p:txBody>
          <a:bodyPr wrap="square">
            <a:spAutoFit/>
          </a:bodyPr>
          <a:lstStyle/>
          <a:p>
            <a:pPr>
              <a:defRPr sz="1050">
                <a:solidFill>
                  <a:srgbClr val="0F172A"/>
                </a:solidFill>
                <a:latin typeface="Arial"/>
              </a:defRPr>
            </a:pPr>
            <a:r>
              <a:t>• Working Concentration: 0.1 to 1.0 mg/mL (0.01–0.1% w/v)</a:t>
            </a:r>
          </a:p>
          <a:p>
            <a:pPr>
              <a:defRPr sz="1050">
                <a:solidFill>
                  <a:srgbClr val="0F172A"/>
                </a:solidFill>
                <a:latin typeface="Arial"/>
              </a:defRPr>
            </a:pPr>
            <a:r>
              <a:t>• Mechanism: Nanomolar enzyme concentrations rapidly adsorb to plastic microplate walls and glass surfaces.</a:t>
            </a:r>
          </a:p>
          <a:p>
            <a:pPr>
              <a:defRPr sz="1050">
                <a:solidFill>
                  <a:srgbClr val="0F172A"/>
                </a:solidFill>
                <a:latin typeface="Arial"/>
              </a:defRPr>
            </a:pPr>
            <a:r>
              <a:t>• Solution: Highly purified Bovine Serum Albumin saturates all non-specific binding sites, keeping the enzyme freely in solution.</a:t>
            </a:r>
          </a:p>
          <a:p>
            <a:pPr>
              <a:defRPr sz="1050">
                <a:solidFill>
                  <a:srgbClr val="0F172A"/>
                </a:solidFill>
                <a:latin typeface="Arial"/>
              </a:defRPr>
            </a:pPr>
            <a:r>
              <a:t>• Requirement: Must use protease-free, fatty acid-free, molecular biology grade BSA.</a:t>
            </a:r>
          </a:p>
        </p:txBody>
      </p:sp>
      <p:sp>
        <p:nvSpPr>
          <p:cNvPr id="8" name="Rounded Rectangle 7"/>
          <p:cNvSpPr/>
          <p:nvPr/>
        </p:nvSpPr>
        <p:spPr>
          <a:xfrm>
            <a:off x="6172200" y="1463040"/>
            <a:ext cx="5257800" cy="2240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600200"/>
            <a:ext cx="4892040" cy="365760"/>
          </a:xfrm>
          <a:prstGeom prst="rect">
            <a:avLst/>
          </a:prstGeom>
          <a:noFill/>
        </p:spPr>
        <p:txBody>
          <a:bodyPr wrap="none">
            <a:spAutoFit/>
          </a:bodyPr>
          <a:lstStyle/>
          <a:p>
            <a:pPr>
              <a:defRPr sz="1300" b="1">
                <a:solidFill>
                  <a:srgbClr val="2563EB"/>
                </a:solidFill>
                <a:latin typeface="Arial"/>
              </a:defRPr>
            </a:pPr>
            <a:r>
              <a:t>2. Osmolytes &amp; Cryoprotectants</a:t>
            </a:r>
          </a:p>
        </p:txBody>
      </p:sp>
      <p:sp>
        <p:nvSpPr>
          <p:cNvPr id="10" name="TextBox 9"/>
          <p:cNvSpPr txBox="1"/>
          <p:nvPr/>
        </p:nvSpPr>
        <p:spPr>
          <a:xfrm>
            <a:off x="6355080" y="2011680"/>
            <a:ext cx="4892040" cy="1600200"/>
          </a:xfrm>
          <a:prstGeom prst="rect">
            <a:avLst/>
          </a:prstGeom>
          <a:noFill/>
        </p:spPr>
        <p:txBody>
          <a:bodyPr wrap="square">
            <a:spAutoFit/>
          </a:bodyPr>
          <a:lstStyle/>
          <a:p>
            <a:pPr>
              <a:defRPr sz="1050">
                <a:solidFill>
                  <a:srgbClr val="0F172A"/>
                </a:solidFill>
                <a:latin typeface="Arial"/>
              </a:defRPr>
            </a:pPr>
            <a:r>
              <a:t>• Working Reagents: Glycerol (10–50% v/v), Trehalose, Sucrose (0.2–0.5 M)</a:t>
            </a:r>
          </a:p>
          <a:p>
            <a:pPr>
              <a:defRPr sz="1050">
                <a:solidFill>
                  <a:srgbClr val="0F172A"/>
                </a:solidFill>
                <a:latin typeface="Arial"/>
              </a:defRPr>
            </a:pPr>
            <a:r>
              <a:t>• Mechanism: Osmolytes increase the preferential hydration of proteins, stabilizing the compact native fold.</a:t>
            </a:r>
          </a:p>
          <a:p>
            <a:pPr>
              <a:defRPr sz="1050">
                <a:solidFill>
                  <a:srgbClr val="0F172A"/>
                </a:solidFill>
                <a:latin typeface="Arial"/>
              </a:defRPr>
            </a:pPr>
            <a:r>
              <a:t>• Cryoprotection: Glycerol prevents ice crystal formation during -20°C storage, preventing mechanical shearing of peptide chains.</a:t>
            </a:r>
          </a:p>
        </p:txBody>
      </p:sp>
      <p:sp>
        <p:nvSpPr>
          <p:cNvPr id="11" name="Rounded Rectangle 10"/>
          <p:cNvSpPr/>
          <p:nvPr/>
        </p:nvSpPr>
        <p:spPr>
          <a:xfrm>
            <a:off x="731520" y="3886200"/>
            <a:ext cx="5257800" cy="2240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023360"/>
            <a:ext cx="4892040" cy="365760"/>
          </a:xfrm>
          <a:prstGeom prst="rect">
            <a:avLst/>
          </a:prstGeom>
          <a:noFill/>
        </p:spPr>
        <p:txBody>
          <a:bodyPr wrap="none">
            <a:spAutoFit/>
          </a:bodyPr>
          <a:lstStyle/>
          <a:p>
            <a:pPr>
              <a:defRPr sz="1300" b="1">
                <a:solidFill>
                  <a:srgbClr val="2563EB"/>
                </a:solidFill>
                <a:latin typeface="Arial"/>
              </a:defRPr>
            </a:pPr>
            <a:r>
              <a:t>3. Non-Ionic Detergents</a:t>
            </a:r>
          </a:p>
        </p:txBody>
      </p:sp>
      <p:sp>
        <p:nvSpPr>
          <p:cNvPr id="13" name="TextBox 12"/>
          <p:cNvSpPr txBox="1"/>
          <p:nvPr/>
        </p:nvSpPr>
        <p:spPr>
          <a:xfrm>
            <a:off x="914400" y="4434840"/>
            <a:ext cx="4892040" cy="1600200"/>
          </a:xfrm>
          <a:prstGeom prst="rect">
            <a:avLst/>
          </a:prstGeom>
          <a:noFill/>
        </p:spPr>
        <p:txBody>
          <a:bodyPr wrap="square">
            <a:spAutoFit/>
          </a:bodyPr>
          <a:lstStyle/>
          <a:p>
            <a:pPr>
              <a:defRPr sz="1050">
                <a:solidFill>
                  <a:srgbClr val="0F172A"/>
                </a:solidFill>
                <a:latin typeface="Arial"/>
              </a:defRPr>
            </a:pPr>
            <a:r>
              <a:t>• Working Reagents: Triton X-100, Tween-20, Brij-35 (0.01 to 0.1% v/v)</a:t>
            </a:r>
          </a:p>
          <a:p>
            <a:pPr>
              <a:defRPr sz="1050">
                <a:solidFill>
                  <a:srgbClr val="0F172A"/>
                </a:solidFill>
                <a:latin typeface="Arial"/>
              </a:defRPr>
            </a:pPr>
            <a:r>
              <a:t>• Mechanism: Prevent hydrophobic self-aggregation and interfacial denaturation at the air-water meniscus.</a:t>
            </a:r>
          </a:p>
          <a:p>
            <a:pPr>
              <a:defRPr sz="1050">
                <a:solidFill>
                  <a:srgbClr val="0F172A"/>
                </a:solidFill>
                <a:latin typeface="Arial"/>
              </a:defRPr>
            </a:pPr>
            <a:r>
              <a:t>• Caution: Use concentrations strictly below the Critical Micelle Concentration (CMC) unless assaying membrane enzymes.</a:t>
            </a:r>
          </a:p>
        </p:txBody>
      </p:sp>
      <p:sp>
        <p:nvSpPr>
          <p:cNvPr id="14" name="Rounded Rectangle 13"/>
          <p:cNvSpPr/>
          <p:nvPr/>
        </p:nvSpPr>
        <p:spPr>
          <a:xfrm>
            <a:off x="6172200" y="3886200"/>
            <a:ext cx="5257800" cy="2240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5080" y="4023360"/>
            <a:ext cx="4892040" cy="365760"/>
          </a:xfrm>
          <a:prstGeom prst="rect">
            <a:avLst/>
          </a:prstGeom>
          <a:noFill/>
        </p:spPr>
        <p:txBody>
          <a:bodyPr wrap="none">
            <a:spAutoFit/>
          </a:bodyPr>
          <a:lstStyle/>
          <a:p>
            <a:pPr>
              <a:defRPr sz="1300" b="1">
                <a:solidFill>
                  <a:srgbClr val="2563EB"/>
                </a:solidFill>
                <a:latin typeface="Arial"/>
              </a:defRPr>
            </a:pPr>
            <a:r>
              <a:t>4. Protease &amp; Phosphatase Inhibitors</a:t>
            </a:r>
          </a:p>
        </p:txBody>
      </p:sp>
      <p:sp>
        <p:nvSpPr>
          <p:cNvPr id="16" name="TextBox 15"/>
          <p:cNvSpPr txBox="1"/>
          <p:nvPr/>
        </p:nvSpPr>
        <p:spPr>
          <a:xfrm>
            <a:off x="6355080" y="4434840"/>
            <a:ext cx="4892040" cy="1600200"/>
          </a:xfrm>
          <a:prstGeom prst="rect">
            <a:avLst/>
          </a:prstGeom>
          <a:noFill/>
        </p:spPr>
        <p:txBody>
          <a:bodyPr wrap="square">
            <a:spAutoFit/>
          </a:bodyPr>
          <a:lstStyle/>
          <a:p>
            <a:pPr>
              <a:defRPr sz="1050">
                <a:solidFill>
                  <a:srgbClr val="0F172A"/>
                </a:solidFill>
                <a:latin typeface="Arial"/>
              </a:defRPr>
            </a:pPr>
            <a:r>
              <a:t>• Protease Cocktails: PMSF/AEBSF (serine proteases), Leupeptin (serine/cysteine), Pepstatin A (aspartic proteases), EDTA (metalloproteases).</a:t>
            </a:r>
          </a:p>
          <a:p>
            <a:pPr>
              <a:defRPr sz="1050">
                <a:solidFill>
                  <a:srgbClr val="0F172A"/>
                </a:solidFill>
                <a:latin typeface="Arial"/>
              </a:defRPr>
            </a:pPr>
            <a:r>
              <a:t>• Phosphatase Inhibitors: Sodium Orthovanadate (protein tyrosine phosphatases), Sodium Fluoride (serine/threonine phosphatases).</a:t>
            </a:r>
          </a:p>
          <a:p>
            <a:pPr>
              <a:defRPr sz="1050">
                <a:solidFill>
                  <a:srgbClr val="0F172A"/>
                </a:solidFill>
                <a:latin typeface="Arial"/>
              </a:defRPr>
            </a:pPr>
            <a:r>
              <a:t>• Essential for crude cell lysates and recombinant enzyme preparations.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lIns="0" rIns="0" tIns="0" bIns="0">
            <a:spAutoFit/>
          </a:bodyPr>
          <a:lstStyle/>
          <a:p>
            <a:pPr>
              <a:defRPr sz="1000" b="1">
                <a:solidFill>
                  <a:srgbClr val="0D9488"/>
                </a:solidFill>
                <a:latin typeface="Arial"/>
              </a:defRPr>
            </a:pPr>
            <a:r>
              <a:t>MATHEMATICS &amp; FORMULATION</a:t>
            </a:r>
          </a:p>
        </p:txBody>
      </p:sp>
      <p:sp>
        <p:nvSpPr>
          <p:cNvPr id="4" name="TextBox 3"/>
          <p:cNvSpPr txBox="1"/>
          <p:nvPr/>
        </p:nvSpPr>
        <p:spPr>
          <a:xfrm>
            <a:off x="731520" y="685800"/>
            <a:ext cx="10698480" cy="594360"/>
          </a:xfrm>
          <a:prstGeom prst="rect">
            <a:avLst/>
          </a:prstGeom>
          <a:noFill/>
        </p:spPr>
        <p:txBody>
          <a:bodyPr wrap="square" lIns="0" rIns="0" tIns="0" bIns="0">
            <a:spAutoFit/>
          </a:bodyPr>
          <a:lstStyle/>
          <a:p>
            <a:pPr>
              <a:defRPr sz="2200" b="1">
                <a:solidFill>
                  <a:srgbClr val="0F172A"/>
                </a:solidFill>
                <a:latin typeface="Arial"/>
              </a:defRPr>
            </a:pPr>
            <a:r>
              <a:t>Quantitative Calculations: Molarity, Dilutions &amp; Ionic Strength</a:t>
            </a:r>
          </a:p>
        </p:txBody>
      </p:sp>
      <p:sp>
        <p:nvSpPr>
          <p:cNvPr id="5" name="Rounded Rectangle 4"/>
          <p:cNvSpPr/>
          <p:nvPr/>
        </p:nvSpPr>
        <p:spPr>
          <a:xfrm>
            <a:off x="731520" y="1463040"/>
            <a:ext cx="342900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194560"/>
            <a:ext cx="3063240" cy="3931920"/>
          </a:xfrm>
          <a:prstGeom prst="rect">
            <a:avLst/>
          </a:prstGeom>
          <a:noFill/>
        </p:spPr>
        <p:txBody>
          <a:bodyPr wrap="square">
            <a:spAutoFit/>
          </a:bodyPr>
          <a:lstStyle/>
          <a:p>
            <a:pPr>
              <a:defRPr sz="1100">
                <a:solidFill>
                  <a:srgbClr val="0F172A"/>
                </a:solidFill>
                <a:latin typeface="Arial"/>
              </a:defRPr>
            </a:pPr>
            <a:r>
              <a:t>• Primary Equation:</a:t>
            </a:r>
          </a:p>
          <a:p>
            <a:pPr>
              <a:defRPr sz="1100">
                <a:solidFill>
                  <a:srgbClr val="0F172A"/>
                </a:solidFill>
                <a:latin typeface="Arial"/>
              </a:defRPr>
            </a:pPr>
            <a:r>
              <a:t>  Mass (g) = Molarity (mol/L) * Volume (L) * Molecular Weight (g/mol)</a:t>
            </a:r>
          </a:p>
          <a:p>
            <a:pPr>
              <a:defRPr sz="1100">
                <a:solidFill>
                  <a:srgbClr val="0F172A"/>
                </a:solidFill>
                <a:latin typeface="Arial"/>
              </a:defRPr>
            </a:pPr>
          </a:p>
          <a:p>
            <a:pPr>
              <a:defRPr sz="1100">
                <a:solidFill>
                  <a:srgbClr val="0F172A"/>
                </a:solidFill>
                <a:latin typeface="Arial"/>
              </a:defRPr>
            </a:pPr>
            <a:r>
              <a:t>• The Hydration State Trap:</a:t>
            </a:r>
          </a:p>
          <a:p>
            <a:pPr>
              <a:defRPr sz="1100">
                <a:solidFill>
                  <a:srgbClr val="0F172A"/>
                </a:solidFill>
                <a:latin typeface="Arial"/>
              </a:defRPr>
            </a:pPr>
            <a:r>
              <a:t>  Always inspect the exact bottle label for water of crystallization!</a:t>
            </a:r>
          </a:p>
          <a:p>
            <a:pPr>
              <a:defRPr sz="1100">
                <a:solidFill>
                  <a:srgbClr val="0F172A"/>
                </a:solidFill>
                <a:latin typeface="Arial"/>
              </a:defRPr>
            </a:pPr>
            <a:r>
              <a:t>  - Anhydrous MgCl2: MW = 95.21 g/mol</a:t>
            </a:r>
          </a:p>
          <a:p>
            <a:pPr>
              <a:defRPr sz="1100">
                <a:solidFill>
                  <a:srgbClr val="0F172A"/>
                </a:solidFill>
                <a:latin typeface="Arial"/>
              </a:defRPr>
            </a:pPr>
            <a:r>
              <a:t>  - MgCl2 * 6H2O (Hexahydrate): MW = 203.30 g/mol</a:t>
            </a:r>
          </a:p>
          <a:p>
            <a:pPr>
              <a:defRPr sz="1100">
                <a:solidFill>
                  <a:srgbClr val="0F172A"/>
                </a:solidFill>
                <a:latin typeface="Arial"/>
              </a:defRPr>
            </a:pPr>
            <a:r>
              <a:t>  Using anhydrous MW for hexahydrate produces an error of over 113% in cofactor concentration!</a:t>
            </a:r>
          </a:p>
        </p:txBody>
      </p:sp>
      <p:sp>
        <p:nvSpPr>
          <p:cNvPr id="7" name="Rounded Rectangle 6"/>
          <p:cNvSpPr/>
          <p:nvPr/>
        </p:nvSpPr>
        <p:spPr>
          <a:xfrm>
            <a:off x="4343400" y="1463040"/>
            <a:ext cx="342900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6280" y="2194560"/>
            <a:ext cx="3063240" cy="3931920"/>
          </a:xfrm>
          <a:prstGeom prst="rect">
            <a:avLst/>
          </a:prstGeom>
          <a:noFill/>
        </p:spPr>
        <p:txBody>
          <a:bodyPr wrap="square">
            <a:spAutoFit/>
          </a:bodyPr>
          <a:lstStyle/>
          <a:p>
            <a:pPr>
              <a:defRPr sz="1100">
                <a:solidFill>
                  <a:srgbClr val="0F172A"/>
                </a:solidFill>
                <a:latin typeface="Arial"/>
              </a:defRPr>
            </a:pPr>
            <a:r>
              <a:t>• The Dilution Law:</a:t>
            </a:r>
          </a:p>
          <a:p>
            <a:pPr>
              <a:defRPr sz="1100">
                <a:solidFill>
                  <a:srgbClr val="0F172A"/>
                </a:solidFill>
                <a:latin typeface="Arial"/>
              </a:defRPr>
            </a:pPr>
            <a:r>
              <a:t>  C1 * V1 = C2 * V2</a:t>
            </a:r>
          </a:p>
          <a:p>
            <a:pPr>
              <a:defRPr sz="1100">
                <a:solidFill>
                  <a:srgbClr val="0F172A"/>
                </a:solidFill>
                <a:latin typeface="Arial"/>
              </a:defRPr>
            </a:pPr>
          </a:p>
          <a:p>
            <a:pPr>
              <a:defRPr sz="1100">
                <a:solidFill>
                  <a:srgbClr val="0F172A"/>
                </a:solidFill>
                <a:latin typeface="Arial"/>
              </a:defRPr>
            </a:pPr>
            <a:r>
              <a:t>• The Stock Strategy:</a:t>
            </a:r>
          </a:p>
          <a:p>
            <a:pPr>
              <a:defRPr sz="1100">
                <a:solidFill>
                  <a:srgbClr val="0F172A"/>
                </a:solidFill>
                <a:latin typeface="Arial"/>
              </a:defRPr>
            </a:pPr>
            <a:r>
              <a:t>  - Prepare 10x Assay Buffer, 100x Cofactors, 1000x Inhibitors.</a:t>
            </a:r>
          </a:p>
          <a:p>
            <a:pPr>
              <a:defRPr sz="1100">
                <a:solidFill>
                  <a:srgbClr val="0F172A"/>
                </a:solidFill>
                <a:latin typeface="Arial"/>
              </a:defRPr>
            </a:pPr>
            <a:r>
              <a:t>  - Minimizes weighing micro-quantities on analytical balances.</a:t>
            </a:r>
          </a:p>
          <a:p>
            <a:pPr>
              <a:defRPr sz="1100">
                <a:solidFill>
                  <a:srgbClr val="0F172A"/>
                </a:solidFill>
                <a:latin typeface="Arial"/>
              </a:defRPr>
            </a:pPr>
          </a:p>
          <a:p>
            <a:pPr>
              <a:defRPr sz="1100">
                <a:solidFill>
                  <a:srgbClr val="0F172A"/>
                </a:solidFill>
                <a:latin typeface="Arial"/>
              </a:defRPr>
            </a:pPr>
            <a:r>
              <a:t>• Pipetting Accuracy Limit:</a:t>
            </a:r>
          </a:p>
          <a:p>
            <a:pPr>
              <a:defRPr sz="1100">
                <a:solidFill>
                  <a:srgbClr val="0F172A"/>
                </a:solidFill>
                <a:latin typeface="Arial"/>
              </a:defRPr>
            </a:pPr>
            <a:r>
              <a:t>  Never pipette volumes &lt; 2 uL in standard spectrophotometric assays; pipette volumetric error increases exponentially below 2 uL.</a:t>
            </a:r>
          </a:p>
        </p:txBody>
      </p:sp>
      <p:sp>
        <p:nvSpPr>
          <p:cNvPr id="9" name="Rounded Rectangle 8"/>
          <p:cNvSpPr/>
          <p:nvPr/>
        </p:nvSpPr>
        <p:spPr>
          <a:xfrm>
            <a:off x="7955280" y="1463040"/>
            <a:ext cx="342900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38160" y="2194560"/>
            <a:ext cx="3063240" cy="3931920"/>
          </a:xfrm>
          <a:prstGeom prst="rect">
            <a:avLst/>
          </a:prstGeom>
          <a:noFill/>
        </p:spPr>
        <p:txBody>
          <a:bodyPr wrap="square">
            <a:spAutoFit/>
          </a:bodyPr>
          <a:lstStyle/>
          <a:p>
            <a:pPr>
              <a:defRPr sz="1100">
                <a:solidFill>
                  <a:srgbClr val="0F172A"/>
                </a:solidFill>
                <a:latin typeface="Arial"/>
              </a:defRPr>
            </a:pPr>
            <a:r>
              <a:t>• Equation:</a:t>
            </a:r>
          </a:p>
          <a:p>
            <a:pPr>
              <a:defRPr sz="1100">
                <a:solidFill>
                  <a:srgbClr val="0F172A"/>
                </a:solidFill>
                <a:latin typeface="Arial"/>
              </a:defRPr>
            </a:pPr>
            <a:r>
              <a:t>  I = 0.5 * Sum(ci * zi^2)</a:t>
            </a:r>
          </a:p>
          <a:p>
            <a:pPr>
              <a:defRPr sz="1100">
                <a:solidFill>
                  <a:srgbClr val="0F172A"/>
                </a:solidFill>
                <a:latin typeface="Arial"/>
              </a:defRPr>
            </a:pPr>
            <a:r>
              <a:t>  Where ci is concentration and zi is ion charge.</a:t>
            </a:r>
          </a:p>
          <a:p>
            <a:pPr>
              <a:defRPr sz="1100">
                <a:solidFill>
                  <a:srgbClr val="0F172A"/>
                </a:solidFill>
                <a:latin typeface="Arial"/>
              </a:defRPr>
            </a:pPr>
          </a:p>
          <a:p>
            <a:pPr>
              <a:defRPr sz="1100">
                <a:solidFill>
                  <a:srgbClr val="0F172A"/>
                </a:solidFill>
                <a:latin typeface="Arial"/>
              </a:defRPr>
            </a:pPr>
            <a:r>
              <a:t>• Kinetic Significance:</a:t>
            </a:r>
          </a:p>
          <a:p>
            <a:pPr>
              <a:defRPr sz="1100">
                <a:solidFill>
                  <a:srgbClr val="0F172A"/>
                </a:solidFill>
                <a:latin typeface="Arial"/>
              </a:defRPr>
            </a:pPr>
            <a:r>
              <a:t>  According to Debye-Huckel theory, ionic strength shields electrostatic charges.</a:t>
            </a:r>
          </a:p>
          <a:p>
            <a:pPr>
              <a:defRPr sz="1100">
                <a:solidFill>
                  <a:srgbClr val="0F172A"/>
                </a:solidFill>
                <a:latin typeface="Arial"/>
              </a:defRPr>
            </a:pPr>
            <a:r>
              <a:t>  If enzyme-substrate interaction relies on charge attraction, high ionic strength increases Km.</a:t>
            </a:r>
          </a:p>
          <a:p>
            <a:pPr>
              <a:defRPr sz="1100">
                <a:solidFill>
                  <a:srgbClr val="0F172A"/>
                </a:solidFill>
                <a:latin typeface="Arial"/>
              </a:defRPr>
            </a:pPr>
            <a:r>
              <a:t>  Standardize with 50–150 mM NaCl or KCl to reflect physiological conditions.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lIns="0" rIns="0" tIns="0" bIns="0">
            <a:spAutoFit/>
          </a:bodyPr>
          <a:lstStyle/>
          <a:p>
            <a:pPr>
              <a:defRPr sz="1000" b="1">
                <a:solidFill>
                  <a:srgbClr val="0D9488"/>
                </a:solidFill>
                <a:latin typeface="Arial"/>
              </a:defRPr>
            </a:pPr>
            <a:r>
              <a:t>LABORATORY PROTOCOL (SOP)</a:t>
            </a:r>
          </a:p>
        </p:txBody>
      </p:sp>
      <p:sp>
        <p:nvSpPr>
          <p:cNvPr id="4" name="TextBox 3"/>
          <p:cNvSpPr txBox="1"/>
          <p:nvPr/>
        </p:nvSpPr>
        <p:spPr>
          <a:xfrm>
            <a:off x="731520" y="685800"/>
            <a:ext cx="10698480" cy="594360"/>
          </a:xfrm>
          <a:prstGeom prst="rect">
            <a:avLst/>
          </a:prstGeom>
          <a:noFill/>
        </p:spPr>
        <p:txBody>
          <a:bodyPr wrap="square" lIns="0" rIns="0" tIns="0" bIns="0">
            <a:spAutoFit/>
          </a:bodyPr>
          <a:lstStyle/>
          <a:p>
            <a:pPr>
              <a:defRPr sz="2200" b="1">
                <a:solidFill>
                  <a:srgbClr val="0F172A"/>
                </a:solidFill>
                <a:latin typeface="Arial"/>
              </a:defRPr>
            </a:pPr>
            <a:r>
              <a:t>Standard Operating Procedure: Analytical Buffer Preparation</a:t>
            </a:r>
          </a:p>
        </p:txBody>
      </p:sp>
      <p:sp>
        <p:nvSpPr>
          <p:cNvPr id="5" name="Rounded Rectangle 4"/>
          <p:cNvSpPr/>
          <p:nvPr/>
        </p:nvSpPr>
        <p:spPr>
          <a:xfrm>
            <a:off x="731520" y="1463040"/>
            <a:ext cx="3429000" cy="2240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4400" y="1627632"/>
            <a:ext cx="822960" cy="29260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Arial"/>
              </a:defRPr>
            </a:pPr>
            <a:r>
              <a:t>Step 1</a:t>
            </a:r>
          </a:p>
        </p:txBody>
      </p:sp>
      <p:sp>
        <p:nvSpPr>
          <p:cNvPr id="7" name="TextBox 6"/>
          <p:cNvSpPr txBox="1"/>
          <p:nvPr/>
        </p:nvSpPr>
        <p:spPr>
          <a:xfrm>
            <a:off x="1828800" y="1600200"/>
            <a:ext cx="2148840" cy="365760"/>
          </a:xfrm>
          <a:prstGeom prst="rect">
            <a:avLst/>
          </a:prstGeom>
          <a:noFill/>
        </p:spPr>
        <p:txBody>
          <a:bodyPr wrap="none">
            <a:spAutoFit/>
          </a:bodyPr>
          <a:lstStyle/>
          <a:p>
            <a:pPr>
              <a:defRPr sz="1300" b="1">
                <a:solidFill>
                  <a:srgbClr val="0F172A"/>
                </a:solidFill>
                <a:latin typeface="Arial"/>
              </a:defRPr>
            </a:pPr>
            <a:r>
              <a:t>Water Quality</a:t>
            </a:r>
          </a:p>
        </p:txBody>
      </p:sp>
      <p:sp>
        <p:nvSpPr>
          <p:cNvPr id="8" name="TextBox 7"/>
          <p:cNvSpPr txBox="1"/>
          <p:nvPr/>
        </p:nvSpPr>
        <p:spPr>
          <a:xfrm>
            <a:off x="914400" y="2057400"/>
            <a:ext cx="3063240" cy="1508760"/>
          </a:xfrm>
          <a:prstGeom prst="rect">
            <a:avLst/>
          </a:prstGeom>
          <a:noFill/>
        </p:spPr>
        <p:txBody>
          <a:bodyPr wrap="square">
            <a:spAutoFit/>
          </a:bodyPr>
          <a:lstStyle/>
          <a:p>
            <a:pPr>
              <a:defRPr sz="1050">
                <a:solidFill>
                  <a:srgbClr val="0F172A"/>
                </a:solidFill>
                <a:latin typeface="Arial"/>
              </a:defRPr>
            </a:pPr>
            <a:r>
              <a:t>Use Type I Ultrapure water (Milli-Q, 18.2 MOhm*cm, TOC &lt; 5 ppb). Never use tap or unpurified deionized water (contains heavy metals, chlorine, and dissolved CO2).</a:t>
            </a:r>
          </a:p>
        </p:txBody>
      </p:sp>
      <p:sp>
        <p:nvSpPr>
          <p:cNvPr id="9" name="Rounded Rectangle 8"/>
          <p:cNvSpPr/>
          <p:nvPr/>
        </p:nvSpPr>
        <p:spPr>
          <a:xfrm>
            <a:off x="4343400" y="1463040"/>
            <a:ext cx="3429000" cy="2240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26280" y="1627632"/>
            <a:ext cx="822960" cy="29260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Arial"/>
              </a:defRPr>
            </a:pPr>
            <a:r>
              <a:t>Step 2</a:t>
            </a:r>
          </a:p>
        </p:txBody>
      </p:sp>
      <p:sp>
        <p:nvSpPr>
          <p:cNvPr id="11" name="TextBox 10"/>
          <p:cNvSpPr txBox="1"/>
          <p:nvPr/>
        </p:nvSpPr>
        <p:spPr>
          <a:xfrm>
            <a:off x="5440680" y="1600200"/>
            <a:ext cx="2148840" cy="365760"/>
          </a:xfrm>
          <a:prstGeom prst="rect">
            <a:avLst/>
          </a:prstGeom>
          <a:noFill/>
        </p:spPr>
        <p:txBody>
          <a:bodyPr wrap="none">
            <a:spAutoFit/>
          </a:bodyPr>
          <a:lstStyle/>
          <a:p>
            <a:pPr>
              <a:defRPr sz="1300" b="1">
                <a:solidFill>
                  <a:srgbClr val="0F172A"/>
                </a:solidFill>
                <a:latin typeface="Arial"/>
              </a:defRPr>
            </a:pPr>
            <a:r>
              <a:t>Dissolution</a:t>
            </a:r>
          </a:p>
        </p:txBody>
      </p:sp>
      <p:sp>
        <p:nvSpPr>
          <p:cNvPr id="12" name="TextBox 11"/>
          <p:cNvSpPr txBox="1"/>
          <p:nvPr/>
        </p:nvSpPr>
        <p:spPr>
          <a:xfrm>
            <a:off x="4526280" y="2057400"/>
            <a:ext cx="3063240" cy="1508760"/>
          </a:xfrm>
          <a:prstGeom prst="rect">
            <a:avLst/>
          </a:prstGeom>
          <a:noFill/>
        </p:spPr>
        <p:txBody>
          <a:bodyPr wrap="square">
            <a:spAutoFit/>
          </a:bodyPr>
          <a:lstStyle/>
          <a:p>
            <a:pPr>
              <a:defRPr sz="1050">
                <a:solidFill>
                  <a:srgbClr val="0F172A"/>
                </a:solidFill>
                <a:latin typeface="Arial"/>
              </a:defRPr>
            </a:pPr>
            <a:r>
              <a:t>Weigh reagents on a calibrated 4-decimal analytical balance. Dissolve in ~80% of final target volume in a beaker with a clean magnetic stir bar.</a:t>
            </a:r>
          </a:p>
        </p:txBody>
      </p:sp>
      <p:sp>
        <p:nvSpPr>
          <p:cNvPr id="13" name="Rounded Rectangle 12"/>
          <p:cNvSpPr/>
          <p:nvPr/>
        </p:nvSpPr>
        <p:spPr>
          <a:xfrm>
            <a:off x="7955280" y="1463040"/>
            <a:ext cx="3429000" cy="2240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138160" y="1627632"/>
            <a:ext cx="822960" cy="29260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Arial"/>
              </a:defRPr>
            </a:pPr>
            <a:r>
              <a:t>Step 3</a:t>
            </a:r>
          </a:p>
        </p:txBody>
      </p:sp>
      <p:sp>
        <p:nvSpPr>
          <p:cNvPr id="15" name="TextBox 14"/>
          <p:cNvSpPr txBox="1"/>
          <p:nvPr/>
        </p:nvSpPr>
        <p:spPr>
          <a:xfrm>
            <a:off x="9052560" y="1600200"/>
            <a:ext cx="2148840" cy="365760"/>
          </a:xfrm>
          <a:prstGeom prst="rect">
            <a:avLst/>
          </a:prstGeom>
          <a:noFill/>
        </p:spPr>
        <p:txBody>
          <a:bodyPr wrap="none">
            <a:spAutoFit/>
          </a:bodyPr>
          <a:lstStyle/>
          <a:p>
            <a:pPr>
              <a:defRPr sz="1300" b="1">
                <a:solidFill>
                  <a:srgbClr val="0F172A"/>
                </a:solidFill>
                <a:latin typeface="Arial"/>
              </a:defRPr>
            </a:pPr>
            <a:r>
              <a:t>pH Calibration</a:t>
            </a:r>
          </a:p>
        </p:txBody>
      </p:sp>
      <p:sp>
        <p:nvSpPr>
          <p:cNvPr id="16" name="TextBox 15"/>
          <p:cNvSpPr txBox="1"/>
          <p:nvPr/>
        </p:nvSpPr>
        <p:spPr>
          <a:xfrm>
            <a:off x="8138160" y="2057400"/>
            <a:ext cx="3063240" cy="1508760"/>
          </a:xfrm>
          <a:prstGeom prst="rect">
            <a:avLst/>
          </a:prstGeom>
          <a:noFill/>
        </p:spPr>
        <p:txBody>
          <a:bodyPr wrap="square">
            <a:spAutoFit/>
          </a:bodyPr>
          <a:lstStyle/>
          <a:p>
            <a:pPr>
              <a:defRPr sz="1050">
                <a:solidFill>
                  <a:srgbClr val="0F172A"/>
                </a:solidFill>
                <a:latin typeface="Arial"/>
              </a:defRPr>
            </a:pPr>
            <a:r>
              <a:t>Perform 3-point calibration of the pH meter using fresh reference standards (pH 4.01, 7.00, 10.01). Verify that electrode slope is between 95% and 102%.</a:t>
            </a:r>
          </a:p>
        </p:txBody>
      </p:sp>
      <p:sp>
        <p:nvSpPr>
          <p:cNvPr id="17" name="Rounded Rectangle 16"/>
          <p:cNvSpPr/>
          <p:nvPr/>
        </p:nvSpPr>
        <p:spPr>
          <a:xfrm>
            <a:off x="731520" y="3886200"/>
            <a:ext cx="3429000" cy="2240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14400" y="4050792"/>
            <a:ext cx="822960" cy="29260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Arial"/>
              </a:defRPr>
            </a:pPr>
            <a:r>
              <a:t>Step 4</a:t>
            </a:r>
          </a:p>
        </p:txBody>
      </p:sp>
      <p:sp>
        <p:nvSpPr>
          <p:cNvPr id="19" name="TextBox 18"/>
          <p:cNvSpPr txBox="1"/>
          <p:nvPr/>
        </p:nvSpPr>
        <p:spPr>
          <a:xfrm>
            <a:off x="1828800" y="4023360"/>
            <a:ext cx="2148840" cy="365760"/>
          </a:xfrm>
          <a:prstGeom prst="rect">
            <a:avLst/>
          </a:prstGeom>
          <a:noFill/>
        </p:spPr>
        <p:txBody>
          <a:bodyPr wrap="none">
            <a:spAutoFit/>
          </a:bodyPr>
          <a:lstStyle/>
          <a:p>
            <a:pPr>
              <a:defRPr sz="1300" b="1">
                <a:solidFill>
                  <a:srgbClr val="0F172A"/>
                </a:solidFill>
                <a:latin typeface="Arial"/>
              </a:defRPr>
            </a:pPr>
            <a:r>
              <a:t>Temperature &amp; Titration</a:t>
            </a:r>
          </a:p>
        </p:txBody>
      </p:sp>
      <p:sp>
        <p:nvSpPr>
          <p:cNvPr id="20" name="TextBox 19"/>
          <p:cNvSpPr txBox="1"/>
          <p:nvPr/>
        </p:nvSpPr>
        <p:spPr>
          <a:xfrm>
            <a:off x="914400" y="4480560"/>
            <a:ext cx="3063240" cy="1508760"/>
          </a:xfrm>
          <a:prstGeom prst="rect">
            <a:avLst/>
          </a:prstGeom>
          <a:noFill/>
        </p:spPr>
        <p:txBody>
          <a:bodyPr wrap="square">
            <a:spAutoFit/>
          </a:bodyPr>
          <a:lstStyle/>
          <a:p>
            <a:pPr>
              <a:defRPr sz="1050">
                <a:solidFill>
                  <a:srgbClr val="0F172A"/>
                </a:solidFill>
                <a:latin typeface="Arial"/>
              </a:defRPr>
            </a:pPr>
            <a:r>
              <a:t>Equilibrate the solution to the exact assay operating temperature (25°C or 37°C). Titrate dropwise with concentrated HCl or NaOH under constant stirring.</a:t>
            </a:r>
          </a:p>
        </p:txBody>
      </p:sp>
      <p:sp>
        <p:nvSpPr>
          <p:cNvPr id="21" name="Rounded Rectangle 20"/>
          <p:cNvSpPr/>
          <p:nvPr/>
        </p:nvSpPr>
        <p:spPr>
          <a:xfrm>
            <a:off x="4343400" y="3886200"/>
            <a:ext cx="3429000" cy="2240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526280" y="4050792"/>
            <a:ext cx="822960" cy="29260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Arial"/>
              </a:defRPr>
            </a:pPr>
            <a:r>
              <a:t>Step 5</a:t>
            </a:r>
          </a:p>
        </p:txBody>
      </p:sp>
      <p:sp>
        <p:nvSpPr>
          <p:cNvPr id="23" name="TextBox 22"/>
          <p:cNvSpPr txBox="1"/>
          <p:nvPr/>
        </p:nvSpPr>
        <p:spPr>
          <a:xfrm>
            <a:off x="5440680" y="4023360"/>
            <a:ext cx="2148840" cy="365760"/>
          </a:xfrm>
          <a:prstGeom prst="rect">
            <a:avLst/>
          </a:prstGeom>
          <a:noFill/>
        </p:spPr>
        <p:txBody>
          <a:bodyPr wrap="none">
            <a:spAutoFit/>
          </a:bodyPr>
          <a:lstStyle/>
          <a:p>
            <a:pPr>
              <a:defRPr sz="1300" b="1">
                <a:solidFill>
                  <a:srgbClr val="0F172A"/>
                </a:solidFill>
                <a:latin typeface="Arial"/>
              </a:defRPr>
            </a:pPr>
            <a:r>
              <a:t>Volumetric Q.S.</a:t>
            </a:r>
          </a:p>
        </p:txBody>
      </p:sp>
      <p:sp>
        <p:nvSpPr>
          <p:cNvPr id="24" name="TextBox 23"/>
          <p:cNvSpPr txBox="1"/>
          <p:nvPr/>
        </p:nvSpPr>
        <p:spPr>
          <a:xfrm>
            <a:off x="4526280" y="4480560"/>
            <a:ext cx="3063240" cy="1508760"/>
          </a:xfrm>
          <a:prstGeom prst="rect">
            <a:avLst/>
          </a:prstGeom>
          <a:noFill/>
        </p:spPr>
        <p:txBody>
          <a:bodyPr wrap="square">
            <a:spAutoFit/>
          </a:bodyPr>
          <a:lstStyle/>
          <a:p>
            <a:pPr>
              <a:defRPr sz="1050">
                <a:solidFill>
                  <a:srgbClr val="0F172A"/>
                </a:solidFill>
                <a:latin typeface="Arial"/>
              </a:defRPr>
            </a:pPr>
            <a:r>
              <a:t>Quantitatively transfer the solution to a Class A volumetric flask. Rinse the beaker twice with Type I water and add rinses to the flask. Bring to final volume (Q.S.).</a:t>
            </a:r>
          </a:p>
        </p:txBody>
      </p:sp>
      <p:sp>
        <p:nvSpPr>
          <p:cNvPr id="25" name="Rounded Rectangle 24"/>
          <p:cNvSpPr/>
          <p:nvPr/>
        </p:nvSpPr>
        <p:spPr>
          <a:xfrm>
            <a:off x="7955280" y="3886200"/>
            <a:ext cx="3429000" cy="2240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8138160" y="4050792"/>
            <a:ext cx="822960" cy="29260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Arial"/>
              </a:defRPr>
            </a:pPr>
            <a:r>
              <a:t>Step 6</a:t>
            </a:r>
          </a:p>
        </p:txBody>
      </p:sp>
      <p:sp>
        <p:nvSpPr>
          <p:cNvPr id="27" name="TextBox 26"/>
          <p:cNvSpPr txBox="1"/>
          <p:nvPr/>
        </p:nvSpPr>
        <p:spPr>
          <a:xfrm>
            <a:off x="9052560" y="4023360"/>
            <a:ext cx="2148840" cy="365760"/>
          </a:xfrm>
          <a:prstGeom prst="rect">
            <a:avLst/>
          </a:prstGeom>
          <a:noFill/>
        </p:spPr>
        <p:txBody>
          <a:bodyPr wrap="none">
            <a:spAutoFit/>
          </a:bodyPr>
          <a:lstStyle/>
          <a:p>
            <a:pPr>
              <a:defRPr sz="1300" b="1">
                <a:solidFill>
                  <a:srgbClr val="0F172A"/>
                </a:solidFill>
                <a:latin typeface="Arial"/>
              </a:defRPr>
            </a:pPr>
            <a:r>
              <a:t>Sterile Filtration</a:t>
            </a:r>
          </a:p>
        </p:txBody>
      </p:sp>
      <p:sp>
        <p:nvSpPr>
          <p:cNvPr id="28" name="TextBox 27"/>
          <p:cNvSpPr txBox="1"/>
          <p:nvPr/>
        </p:nvSpPr>
        <p:spPr>
          <a:xfrm>
            <a:off x="8138160" y="4480560"/>
            <a:ext cx="3063240" cy="1508760"/>
          </a:xfrm>
          <a:prstGeom prst="rect">
            <a:avLst/>
          </a:prstGeom>
          <a:noFill/>
        </p:spPr>
        <p:txBody>
          <a:bodyPr wrap="square">
            <a:spAutoFit/>
          </a:bodyPr>
          <a:lstStyle/>
          <a:p>
            <a:pPr>
              <a:defRPr sz="1050">
                <a:solidFill>
                  <a:srgbClr val="0F172A"/>
                </a:solidFill>
                <a:latin typeface="Arial"/>
              </a:defRPr>
            </a:pPr>
            <a:r>
              <a:t>Filter through a 0.22 um PES (polyethersulfone) membrane to remove dust, particulates, and microorganisms. Degas if using for optical or HPLC-coupled assays.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lIns="0" rIns="0" tIns="0" bIns="0">
            <a:spAutoFit/>
          </a:bodyPr>
          <a:lstStyle/>
          <a:p>
            <a:pPr>
              <a:defRPr sz="1000" b="1">
                <a:solidFill>
                  <a:srgbClr val="0D9488"/>
                </a:solidFill>
                <a:latin typeface="Arial"/>
              </a:defRPr>
            </a:pPr>
            <a:r>
              <a:t>ANALYTICAL SPECTROSCOPY</a:t>
            </a:r>
          </a:p>
        </p:txBody>
      </p:sp>
      <p:sp>
        <p:nvSpPr>
          <p:cNvPr id="4" name="TextBox 3"/>
          <p:cNvSpPr txBox="1"/>
          <p:nvPr/>
        </p:nvSpPr>
        <p:spPr>
          <a:xfrm>
            <a:off x="731520" y="685800"/>
            <a:ext cx="10698480" cy="594360"/>
          </a:xfrm>
          <a:prstGeom prst="rect">
            <a:avLst/>
          </a:prstGeom>
          <a:noFill/>
        </p:spPr>
        <p:txBody>
          <a:bodyPr wrap="square" lIns="0" rIns="0" tIns="0" bIns="0">
            <a:spAutoFit/>
          </a:bodyPr>
          <a:lstStyle/>
          <a:p>
            <a:pPr>
              <a:defRPr sz="2200" b="1">
                <a:solidFill>
                  <a:srgbClr val="0F172A"/>
                </a:solidFill>
                <a:latin typeface="Arial"/>
              </a:defRPr>
            </a:pPr>
            <a:r>
              <a:t>Optical Considerations: Avoiding Spectral &amp; Photometric Interferences</a:t>
            </a:r>
          </a:p>
        </p:txBody>
      </p:sp>
      <p:sp>
        <p:nvSpPr>
          <p:cNvPr id="5" name="Rounded Rectangle 4"/>
          <p:cNvSpPr/>
          <p:nvPr/>
        </p:nvSpPr>
        <p:spPr>
          <a:xfrm>
            <a:off x="731520" y="1463040"/>
            <a:ext cx="342900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3063240" cy="548640"/>
          </a:xfrm>
          <a:prstGeom prst="rect">
            <a:avLst/>
          </a:prstGeom>
          <a:noFill/>
        </p:spPr>
        <p:txBody>
          <a:bodyPr wrap="none">
            <a:spAutoFit/>
          </a:bodyPr>
          <a:lstStyle/>
          <a:p>
            <a:pPr>
              <a:defRPr sz="1300" b="1">
                <a:solidFill>
                  <a:srgbClr val="2563EB"/>
                </a:solidFill>
                <a:latin typeface="Arial"/>
              </a:defRPr>
            </a:pPr>
            <a:r>
              <a:t>1. The Ultraviolet Window (260 – 340 nm)</a:t>
            </a:r>
          </a:p>
        </p:txBody>
      </p:sp>
      <p:sp>
        <p:nvSpPr>
          <p:cNvPr id="7" name="TextBox 6"/>
          <p:cNvSpPr txBox="1"/>
          <p:nvPr/>
        </p:nvSpPr>
        <p:spPr>
          <a:xfrm>
            <a:off x="914400" y="2194560"/>
            <a:ext cx="3063240" cy="3931920"/>
          </a:xfrm>
          <a:prstGeom prst="rect">
            <a:avLst/>
          </a:prstGeom>
          <a:noFill/>
        </p:spPr>
        <p:txBody>
          <a:bodyPr wrap="square">
            <a:spAutoFit/>
          </a:bodyPr>
          <a:lstStyle/>
          <a:p>
            <a:pPr>
              <a:defRPr sz="1100">
                <a:solidFill>
                  <a:srgbClr val="0F172A"/>
                </a:solidFill>
                <a:latin typeface="Arial"/>
              </a:defRPr>
            </a:pPr>
            <a:r>
              <a:t>• The Landmark Dehydrogenase Assay:</a:t>
            </a:r>
          </a:p>
          <a:p>
            <a:pPr>
              <a:defRPr sz="1100">
                <a:solidFill>
                  <a:srgbClr val="0F172A"/>
                </a:solidFill>
                <a:latin typeface="Arial"/>
              </a:defRPr>
            </a:pPr>
            <a:r>
              <a:t>  NADH and NADPH absorb strongly at 340 nm (molar extinction coeff = 6,220 M^-1 cm^-1), while NAD+ and NADP+ have zero absorbance at 340 nm.</a:t>
            </a:r>
          </a:p>
          <a:p>
            <a:pPr>
              <a:defRPr sz="1100">
                <a:solidFill>
                  <a:srgbClr val="0F172A"/>
                </a:solidFill>
                <a:latin typeface="Arial"/>
              </a:defRPr>
            </a:pPr>
          </a:p>
          <a:p>
            <a:pPr>
              <a:defRPr sz="1100">
                <a:solidFill>
                  <a:srgbClr val="0F172A"/>
                </a:solidFill>
                <a:latin typeface="Arial"/>
              </a:defRPr>
            </a:pPr>
            <a:r>
              <a:t>• Severe UV Interferences:</a:t>
            </a:r>
          </a:p>
          <a:p>
            <a:pPr>
              <a:defRPr sz="1100">
                <a:solidFill>
                  <a:srgbClr val="0F172A"/>
                </a:solidFill>
                <a:latin typeface="Arial"/>
              </a:defRPr>
            </a:pPr>
            <a:r>
              <a:t>  - DTT: High concentrations absorb strongly below 280 nm.</a:t>
            </a:r>
          </a:p>
          <a:p>
            <a:pPr>
              <a:defRPr sz="1100">
                <a:solidFill>
                  <a:srgbClr val="0F172A"/>
                </a:solidFill>
                <a:latin typeface="Arial"/>
              </a:defRPr>
            </a:pPr>
            <a:r>
              <a:t>  - Imidazole &amp; Acetone: Absorb intensely in the far-UV.</a:t>
            </a:r>
          </a:p>
          <a:p>
            <a:pPr>
              <a:defRPr sz="1100">
                <a:solidFill>
                  <a:srgbClr val="0F172A"/>
                </a:solidFill>
                <a:latin typeface="Arial"/>
              </a:defRPr>
            </a:pPr>
            <a:r>
              <a:t>  - Triton X-100: Possesses an aromatic phenyl ring that absorbs heavily at 275 nm.</a:t>
            </a:r>
          </a:p>
          <a:p>
            <a:pPr>
              <a:defRPr sz="1100">
                <a:solidFill>
                  <a:srgbClr val="0F172A"/>
                </a:solidFill>
                <a:latin typeface="Arial"/>
              </a:defRPr>
            </a:pPr>
            <a:r>
              <a:t>  - Rule: Always measure buffer blank absorbance at 340 nm; blank absorbance must be &lt; 0.05 OD.</a:t>
            </a:r>
          </a:p>
        </p:txBody>
      </p:sp>
      <p:sp>
        <p:nvSpPr>
          <p:cNvPr id="8" name="Rounded Rectangle 7"/>
          <p:cNvSpPr/>
          <p:nvPr/>
        </p:nvSpPr>
        <p:spPr>
          <a:xfrm>
            <a:off x="4343400" y="1463040"/>
            <a:ext cx="342900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1645920"/>
            <a:ext cx="3063240" cy="548640"/>
          </a:xfrm>
          <a:prstGeom prst="rect">
            <a:avLst/>
          </a:prstGeom>
          <a:noFill/>
        </p:spPr>
        <p:txBody>
          <a:bodyPr wrap="none">
            <a:spAutoFit/>
          </a:bodyPr>
          <a:lstStyle/>
          <a:p>
            <a:pPr>
              <a:defRPr sz="1300" b="1">
                <a:solidFill>
                  <a:srgbClr val="2563EB"/>
                </a:solidFill>
                <a:latin typeface="Arial"/>
              </a:defRPr>
            </a:pPr>
            <a:r>
              <a:t>2. The Visible Spectrum (400 – 650 nm)</a:t>
            </a:r>
          </a:p>
        </p:txBody>
      </p:sp>
      <p:sp>
        <p:nvSpPr>
          <p:cNvPr id="10" name="TextBox 9"/>
          <p:cNvSpPr txBox="1"/>
          <p:nvPr/>
        </p:nvSpPr>
        <p:spPr>
          <a:xfrm>
            <a:off x="4526280" y="2194560"/>
            <a:ext cx="3063240" cy="3931920"/>
          </a:xfrm>
          <a:prstGeom prst="rect">
            <a:avLst/>
          </a:prstGeom>
          <a:noFill/>
        </p:spPr>
        <p:txBody>
          <a:bodyPr wrap="square">
            <a:spAutoFit/>
          </a:bodyPr>
          <a:lstStyle/>
          <a:p>
            <a:pPr>
              <a:defRPr sz="1100">
                <a:solidFill>
                  <a:srgbClr val="0F172A"/>
                </a:solidFill>
                <a:latin typeface="Arial"/>
              </a:defRPr>
            </a:pPr>
            <a:r>
              <a:t>• Chromogenic Assays:</a:t>
            </a:r>
          </a:p>
          <a:p>
            <a:pPr>
              <a:defRPr sz="1100">
                <a:solidFill>
                  <a:srgbClr val="0F172A"/>
                </a:solidFill>
                <a:latin typeface="Arial"/>
              </a:defRPr>
            </a:pPr>
            <a:r>
              <a:t>  - Alkaline Phosphatase: p-Nitrophenol (405 nm).</a:t>
            </a:r>
          </a:p>
          <a:p>
            <a:pPr>
              <a:defRPr sz="1100">
                <a:solidFill>
                  <a:srgbClr val="0F172A"/>
                </a:solidFill>
                <a:latin typeface="Arial"/>
              </a:defRPr>
            </a:pPr>
            <a:r>
              <a:t>  - Peroxidase: ABTS (405–420 nm), TMB (450 nm / 650 nm).</a:t>
            </a:r>
          </a:p>
          <a:p>
            <a:pPr>
              <a:defRPr sz="1100">
                <a:solidFill>
                  <a:srgbClr val="0F172A"/>
                </a:solidFill>
                <a:latin typeface="Arial"/>
              </a:defRPr>
            </a:pPr>
            <a:r>
              <a:t>  - Bradford Total Protein: Coomassie G-250 (595 nm).</a:t>
            </a:r>
          </a:p>
          <a:p>
            <a:pPr>
              <a:defRPr sz="1100">
                <a:solidFill>
                  <a:srgbClr val="0F172A"/>
                </a:solidFill>
                <a:latin typeface="Arial"/>
              </a:defRPr>
            </a:pPr>
          </a:p>
          <a:p>
            <a:pPr>
              <a:defRPr sz="1100">
                <a:solidFill>
                  <a:srgbClr val="0F172A"/>
                </a:solidFill>
                <a:latin typeface="Arial"/>
              </a:defRPr>
            </a:pPr>
            <a:r>
              <a:t>• Buffer pH &amp; Extinction Coefficient:</a:t>
            </a:r>
          </a:p>
          <a:p>
            <a:pPr>
              <a:defRPr sz="1100">
                <a:solidFill>
                  <a:srgbClr val="0F172A"/>
                </a:solidFill>
                <a:latin typeface="Arial"/>
              </a:defRPr>
            </a:pPr>
            <a:r>
              <a:t>  p-Nitrophenol is a pH indicator! It is colorless in its protonated form (pKa ~ 7.15) and bright yellow only as the phenolate anion.</a:t>
            </a:r>
          </a:p>
          <a:p>
            <a:pPr>
              <a:defRPr sz="1100">
                <a:solidFill>
                  <a:srgbClr val="0F172A"/>
                </a:solidFill>
                <a:latin typeface="Arial"/>
              </a:defRPr>
            </a:pPr>
            <a:r>
              <a:t>  If your buffer pH drops, the extinction coefficient plummets, creating a false perception of enzyme inhibition!</a:t>
            </a:r>
          </a:p>
        </p:txBody>
      </p:sp>
      <p:sp>
        <p:nvSpPr>
          <p:cNvPr id="11" name="Rounded Rectangle 10"/>
          <p:cNvSpPr/>
          <p:nvPr/>
        </p:nvSpPr>
        <p:spPr>
          <a:xfrm>
            <a:off x="7955280" y="1463040"/>
            <a:ext cx="342900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38160" y="1645920"/>
            <a:ext cx="3063240" cy="548640"/>
          </a:xfrm>
          <a:prstGeom prst="rect">
            <a:avLst/>
          </a:prstGeom>
          <a:noFill/>
        </p:spPr>
        <p:txBody>
          <a:bodyPr wrap="none">
            <a:spAutoFit/>
          </a:bodyPr>
          <a:lstStyle/>
          <a:p>
            <a:pPr>
              <a:defRPr sz="1300" b="1">
                <a:solidFill>
                  <a:srgbClr val="2563EB"/>
                </a:solidFill>
                <a:latin typeface="Arial"/>
              </a:defRPr>
            </a:pPr>
            <a:r>
              <a:t>3. Fluorescence &amp; Microplate Artifacts</a:t>
            </a:r>
          </a:p>
        </p:txBody>
      </p:sp>
      <p:sp>
        <p:nvSpPr>
          <p:cNvPr id="13" name="TextBox 12"/>
          <p:cNvSpPr txBox="1"/>
          <p:nvPr/>
        </p:nvSpPr>
        <p:spPr>
          <a:xfrm>
            <a:off x="8138160" y="2194560"/>
            <a:ext cx="3063240" cy="3931920"/>
          </a:xfrm>
          <a:prstGeom prst="rect">
            <a:avLst/>
          </a:prstGeom>
          <a:noFill/>
        </p:spPr>
        <p:txBody>
          <a:bodyPr wrap="square">
            <a:spAutoFit/>
          </a:bodyPr>
          <a:lstStyle/>
          <a:p>
            <a:pPr>
              <a:defRPr sz="1100">
                <a:solidFill>
                  <a:srgbClr val="0F172A"/>
                </a:solidFill>
                <a:latin typeface="Arial"/>
              </a:defRPr>
            </a:pPr>
            <a:r>
              <a:t>• Fluorogenic Probes (AMC, Resorufin, Fluorescein):</a:t>
            </a:r>
          </a:p>
          <a:p>
            <a:pPr>
              <a:defRPr sz="1100">
                <a:solidFill>
                  <a:srgbClr val="0F172A"/>
                </a:solidFill>
                <a:latin typeface="Arial"/>
              </a:defRPr>
            </a:pPr>
            <a:r>
              <a:t>  Orders of magnitude more sensitive than absorbance, but prone to unique artifacts.</a:t>
            </a:r>
          </a:p>
          <a:p>
            <a:pPr>
              <a:defRPr sz="1100">
                <a:solidFill>
                  <a:srgbClr val="0F172A"/>
                </a:solidFill>
                <a:latin typeface="Arial"/>
              </a:defRPr>
            </a:pPr>
          </a:p>
          <a:p>
            <a:pPr>
              <a:defRPr sz="1100">
                <a:solidFill>
                  <a:srgbClr val="0F172A"/>
                </a:solidFill>
                <a:latin typeface="Arial"/>
              </a:defRPr>
            </a:pPr>
            <a:r>
              <a:t>• The Inner Filter Effect:</a:t>
            </a:r>
          </a:p>
          <a:p>
            <a:pPr>
              <a:defRPr sz="1100">
                <a:solidFill>
                  <a:srgbClr val="0F172A"/>
                </a:solidFill>
                <a:latin typeface="Arial"/>
              </a:defRPr>
            </a:pPr>
            <a:r>
              <a:t>  Excess substrate or colored buffer components absorb excitation or emission photons, flattening kinetic curves at high substrate levels.</a:t>
            </a:r>
          </a:p>
          <a:p>
            <a:pPr>
              <a:defRPr sz="1100">
                <a:solidFill>
                  <a:srgbClr val="0F172A"/>
                </a:solidFill>
                <a:latin typeface="Arial"/>
              </a:defRPr>
            </a:pPr>
          </a:p>
          <a:p>
            <a:pPr>
              <a:defRPr sz="1100">
                <a:solidFill>
                  <a:srgbClr val="0F172A"/>
                </a:solidFill>
                <a:latin typeface="Arial"/>
              </a:defRPr>
            </a:pPr>
            <a:r>
              <a:t>• Plate Selection:</a:t>
            </a:r>
          </a:p>
          <a:p>
            <a:pPr>
              <a:defRPr sz="1100">
                <a:solidFill>
                  <a:srgbClr val="0F172A"/>
                </a:solidFill>
                <a:latin typeface="Arial"/>
              </a:defRPr>
            </a:pPr>
            <a:r>
              <a:t>  Always use black solid-bottom microplates for fluorescence (prevents cross-talk) and clear flat-bottom UV-transparent plates for absorbance.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lIns="0" rIns="0" tIns="0" bIns="0">
            <a:spAutoFit/>
          </a:bodyPr>
          <a:lstStyle/>
          <a:p>
            <a:pPr>
              <a:defRPr sz="1000" b="1">
                <a:solidFill>
                  <a:srgbClr val="0D9488"/>
                </a:solidFill>
                <a:latin typeface="Arial"/>
              </a:defRPr>
            </a:pPr>
            <a:r>
              <a:t>BENCHMARK PROTOCOLS</a:t>
            </a:r>
          </a:p>
        </p:txBody>
      </p:sp>
      <p:sp>
        <p:nvSpPr>
          <p:cNvPr id="4" name="TextBox 3"/>
          <p:cNvSpPr txBox="1"/>
          <p:nvPr/>
        </p:nvSpPr>
        <p:spPr>
          <a:xfrm>
            <a:off x="731520" y="685800"/>
            <a:ext cx="10698480" cy="594360"/>
          </a:xfrm>
          <a:prstGeom prst="rect">
            <a:avLst/>
          </a:prstGeom>
          <a:noFill/>
        </p:spPr>
        <p:txBody>
          <a:bodyPr wrap="square" lIns="0" rIns="0" tIns="0" bIns="0">
            <a:spAutoFit/>
          </a:bodyPr>
          <a:lstStyle/>
          <a:p>
            <a:pPr>
              <a:defRPr sz="2200" b="1">
                <a:solidFill>
                  <a:srgbClr val="0F172A"/>
                </a:solidFill>
                <a:latin typeface="Arial"/>
              </a:defRPr>
            </a:pPr>
            <a:r>
              <a:t>Practical Protocols: Buffer &amp; Reagent Recipes for 3 Landmark Assays</a:t>
            </a:r>
          </a:p>
        </p:txBody>
      </p:sp>
      <p:sp>
        <p:nvSpPr>
          <p:cNvPr id="5" name="Rounded Rectangle 4"/>
          <p:cNvSpPr/>
          <p:nvPr/>
        </p:nvSpPr>
        <p:spPr>
          <a:xfrm>
            <a:off x="731520" y="1463040"/>
            <a:ext cx="342900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463040"/>
            <a:ext cx="3429000"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45920"/>
            <a:ext cx="3063240" cy="548640"/>
          </a:xfrm>
          <a:prstGeom prst="rect">
            <a:avLst/>
          </a:prstGeom>
          <a:noFill/>
        </p:spPr>
        <p:txBody>
          <a:bodyPr wrap="none">
            <a:spAutoFit/>
          </a:bodyPr>
          <a:lstStyle/>
          <a:p>
            <a:pPr>
              <a:defRPr sz="1200" b="1">
                <a:solidFill>
                  <a:srgbClr val="2563EB"/>
                </a:solidFill>
                <a:latin typeface="Arial"/>
              </a:defRPr>
            </a:pPr>
            <a:r>
              <a:t>Protocol A: Alkaline Phosphatase (ALP)</a:t>
            </a:r>
          </a:p>
        </p:txBody>
      </p:sp>
      <p:sp>
        <p:nvSpPr>
          <p:cNvPr id="8" name="TextBox 7"/>
          <p:cNvSpPr txBox="1"/>
          <p:nvPr/>
        </p:nvSpPr>
        <p:spPr>
          <a:xfrm>
            <a:off x="914400" y="2194560"/>
            <a:ext cx="3063240" cy="3931920"/>
          </a:xfrm>
          <a:prstGeom prst="rect">
            <a:avLst/>
          </a:prstGeom>
          <a:noFill/>
        </p:spPr>
        <p:txBody>
          <a:bodyPr wrap="square">
            <a:spAutoFit/>
          </a:bodyPr>
          <a:lstStyle/>
          <a:p>
            <a:pPr>
              <a:defRPr sz="1050">
                <a:solidFill>
                  <a:srgbClr val="0F172A"/>
                </a:solidFill>
                <a:latin typeface="Arial"/>
              </a:defRPr>
            </a:pPr>
            <a:r>
              <a:t>• Buffer System:</a:t>
            </a:r>
          </a:p>
          <a:p>
            <a:pPr>
              <a:defRPr sz="1050">
                <a:solidFill>
                  <a:srgbClr val="0F172A"/>
                </a:solidFill>
                <a:latin typeface="Arial"/>
              </a:defRPr>
            </a:pPr>
            <a:r>
              <a:t>  1.0 M Diethanolamine (DEA) or 50 mM Glycine-NaOH, pH 9.8 at 37°C.</a:t>
            </a:r>
          </a:p>
          <a:p>
            <a:pPr>
              <a:defRPr sz="1050">
                <a:solidFill>
                  <a:srgbClr val="0F172A"/>
                </a:solidFill>
                <a:latin typeface="Arial"/>
              </a:defRPr>
            </a:pPr>
          </a:p>
          <a:p>
            <a:pPr>
              <a:defRPr sz="1050">
                <a:solidFill>
                  <a:srgbClr val="0F172A"/>
                </a:solidFill>
                <a:latin typeface="Arial"/>
              </a:defRPr>
            </a:pPr>
            <a:r>
              <a:t>• Essential Cofactor:</a:t>
            </a:r>
          </a:p>
          <a:p>
            <a:pPr>
              <a:defRPr sz="1050">
                <a:solidFill>
                  <a:srgbClr val="0F172A"/>
                </a:solidFill>
                <a:latin typeface="Arial"/>
              </a:defRPr>
            </a:pPr>
            <a:r>
              <a:t>  0.5 mM MgCl2 (acts as an essential catalytic activator).</a:t>
            </a:r>
          </a:p>
          <a:p>
            <a:pPr>
              <a:defRPr sz="1050">
                <a:solidFill>
                  <a:srgbClr val="0F172A"/>
                </a:solidFill>
                <a:latin typeface="Arial"/>
              </a:defRPr>
            </a:pPr>
          </a:p>
          <a:p>
            <a:pPr>
              <a:defRPr sz="1050">
                <a:solidFill>
                  <a:srgbClr val="0F172A"/>
                </a:solidFill>
                <a:latin typeface="Arial"/>
              </a:defRPr>
            </a:pPr>
            <a:r>
              <a:t>• Substrate:</a:t>
            </a:r>
          </a:p>
          <a:p>
            <a:pPr>
              <a:defRPr sz="1050">
                <a:solidFill>
                  <a:srgbClr val="0F172A"/>
                </a:solidFill>
                <a:latin typeface="Arial"/>
              </a:defRPr>
            </a:pPr>
            <a:r>
              <a:t>  10 mM p-Nitrophenyl phosphate (p-NPP, fresh in buffer).</a:t>
            </a:r>
          </a:p>
          <a:p>
            <a:pPr>
              <a:defRPr sz="1050">
                <a:solidFill>
                  <a:srgbClr val="0F172A"/>
                </a:solidFill>
                <a:latin typeface="Arial"/>
              </a:defRPr>
            </a:pPr>
          </a:p>
          <a:p>
            <a:pPr>
              <a:defRPr sz="1050">
                <a:solidFill>
                  <a:srgbClr val="0F172A"/>
                </a:solidFill>
                <a:latin typeface="Arial"/>
              </a:defRPr>
            </a:pPr>
            <a:r>
              <a:t>• Optical Detection:</a:t>
            </a:r>
          </a:p>
          <a:p>
            <a:pPr>
              <a:defRPr sz="1050">
                <a:solidFill>
                  <a:srgbClr val="0F172A"/>
                </a:solidFill>
                <a:latin typeface="Arial"/>
              </a:defRPr>
            </a:pPr>
            <a:r>
              <a:t>  Continuous kinetic read at 405 nm (formation of p-nitrophenolate, yellow, epsilon = 18,500 M^-1 cm^-1).</a:t>
            </a:r>
          </a:p>
        </p:txBody>
      </p:sp>
      <p:sp>
        <p:nvSpPr>
          <p:cNvPr id="9" name="Rounded Rectangle 8"/>
          <p:cNvSpPr/>
          <p:nvPr/>
        </p:nvSpPr>
        <p:spPr>
          <a:xfrm>
            <a:off x="4343400" y="1463040"/>
            <a:ext cx="342900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43400" y="1463040"/>
            <a:ext cx="3429000"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645920"/>
            <a:ext cx="3063240" cy="548640"/>
          </a:xfrm>
          <a:prstGeom prst="rect">
            <a:avLst/>
          </a:prstGeom>
          <a:noFill/>
        </p:spPr>
        <p:txBody>
          <a:bodyPr wrap="none">
            <a:spAutoFit/>
          </a:bodyPr>
          <a:lstStyle/>
          <a:p>
            <a:pPr>
              <a:defRPr sz="1200" b="1">
                <a:solidFill>
                  <a:srgbClr val="0D9488"/>
                </a:solidFill>
                <a:latin typeface="Arial"/>
              </a:defRPr>
            </a:pPr>
            <a:r>
              <a:t>Protocol B: Lactate Dehydrogenase (LDH)</a:t>
            </a:r>
          </a:p>
        </p:txBody>
      </p:sp>
      <p:sp>
        <p:nvSpPr>
          <p:cNvPr id="12" name="TextBox 11"/>
          <p:cNvSpPr txBox="1"/>
          <p:nvPr/>
        </p:nvSpPr>
        <p:spPr>
          <a:xfrm>
            <a:off x="4526280" y="2194560"/>
            <a:ext cx="3063240" cy="3931920"/>
          </a:xfrm>
          <a:prstGeom prst="rect">
            <a:avLst/>
          </a:prstGeom>
          <a:noFill/>
        </p:spPr>
        <p:txBody>
          <a:bodyPr wrap="square">
            <a:spAutoFit/>
          </a:bodyPr>
          <a:lstStyle/>
          <a:p>
            <a:pPr>
              <a:defRPr sz="1050">
                <a:solidFill>
                  <a:srgbClr val="0F172A"/>
                </a:solidFill>
                <a:latin typeface="Arial"/>
              </a:defRPr>
            </a:pPr>
            <a:r>
              <a:t>• Buffer System:</a:t>
            </a:r>
          </a:p>
          <a:p>
            <a:pPr>
              <a:defRPr sz="1050">
                <a:solidFill>
                  <a:srgbClr val="0F172A"/>
                </a:solidFill>
                <a:latin typeface="Arial"/>
              </a:defRPr>
            </a:pPr>
            <a:r>
              <a:t>  50 mM Potassium Phosphate or Tris-HCl, pH 7.4 at 25°C.</a:t>
            </a:r>
          </a:p>
          <a:p>
            <a:pPr>
              <a:defRPr sz="1050">
                <a:solidFill>
                  <a:srgbClr val="0F172A"/>
                </a:solidFill>
                <a:latin typeface="Arial"/>
              </a:defRPr>
            </a:pPr>
          </a:p>
          <a:p>
            <a:pPr>
              <a:defRPr sz="1050">
                <a:solidFill>
                  <a:srgbClr val="0F172A"/>
                </a:solidFill>
                <a:latin typeface="Arial"/>
              </a:defRPr>
            </a:pPr>
            <a:r>
              <a:t>• Substrate &amp; Coenzyme:</a:t>
            </a:r>
          </a:p>
          <a:p>
            <a:pPr>
              <a:defRPr sz="1050">
                <a:solidFill>
                  <a:srgbClr val="0F172A"/>
                </a:solidFill>
                <a:latin typeface="Arial"/>
              </a:defRPr>
            </a:pPr>
            <a:r>
              <a:t>  - 1.0 mM Sodium Pyruvate</a:t>
            </a:r>
          </a:p>
          <a:p>
            <a:pPr>
              <a:defRPr sz="1050">
                <a:solidFill>
                  <a:srgbClr val="0F172A"/>
                </a:solidFill>
                <a:latin typeface="Arial"/>
              </a:defRPr>
            </a:pPr>
            <a:r>
              <a:t>  - 0.2 mM beta-NADH (prepared fresh in 10 mM Tris, pH 8.0).</a:t>
            </a:r>
          </a:p>
          <a:p>
            <a:pPr>
              <a:defRPr sz="1050">
                <a:solidFill>
                  <a:srgbClr val="0F172A"/>
                </a:solidFill>
                <a:latin typeface="Arial"/>
              </a:defRPr>
            </a:pPr>
          </a:p>
          <a:p>
            <a:pPr>
              <a:defRPr sz="1050">
                <a:solidFill>
                  <a:srgbClr val="0F172A"/>
                </a:solidFill>
                <a:latin typeface="Arial"/>
              </a:defRPr>
            </a:pPr>
            <a:r>
              <a:t>• Optical Detection:</a:t>
            </a:r>
          </a:p>
          <a:p>
            <a:pPr>
              <a:defRPr sz="1050">
                <a:solidFill>
                  <a:srgbClr val="0F172A"/>
                </a:solidFill>
                <a:latin typeface="Arial"/>
              </a:defRPr>
            </a:pPr>
            <a:r>
              <a:t>  Continuous kinetic decrease at 340 nm (oxidation of NADH -&gt; NAD+, epsilon = 6,220 M^-1 cm^-1).</a:t>
            </a:r>
          </a:p>
          <a:p>
            <a:pPr>
              <a:defRPr sz="1050">
                <a:solidFill>
                  <a:srgbClr val="0F172A"/>
                </a:solidFill>
                <a:latin typeface="Arial"/>
              </a:defRPr>
            </a:pPr>
          </a:p>
          <a:p>
            <a:pPr>
              <a:defRPr sz="1050">
                <a:solidFill>
                  <a:srgbClr val="0F172A"/>
                </a:solidFill>
                <a:latin typeface="Arial"/>
              </a:defRPr>
            </a:pPr>
            <a:r>
              <a:t>• Critical Note: Phosphate is preferred here because there are no divalent metals to precipitate.</a:t>
            </a:r>
          </a:p>
        </p:txBody>
      </p:sp>
      <p:sp>
        <p:nvSpPr>
          <p:cNvPr id="13" name="Rounded Rectangle 12"/>
          <p:cNvSpPr/>
          <p:nvPr/>
        </p:nvSpPr>
        <p:spPr>
          <a:xfrm>
            <a:off x="7955280" y="1463040"/>
            <a:ext cx="342900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55280" y="1463040"/>
            <a:ext cx="3429000" cy="7315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38160" y="1645920"/>
            <a:ext cx="3063240" cy="548640"/>
          </a:xfrm>
          <a:prstGeom prst="rect">
            <a:avLst/>
          </a:prstGeom>
          <a:noFill/>
        </p:spPr>
        <p:txBody>
          <a:bodyPr wrap="none">
            <a:spAutoFit/>
          </a:bodyPr>
          <a:lstStyle/>
          <a:p>
            <a:pPr>
              <a:defRPr sz="1200" b="1">
                <a:solidFill>
                  <a:srgbClr val="4F46E5"/>
                </a:solidFill>
                <a:latin typeface="Arial"/>
              </a:defRPr>
            </a:pPr>
            <a:r>
              <a:t>Protocol C: Horseradish Peroxidase (HRP)</a:t>
            </a:r>
          </a:p>
        </p:txBody>
      </p:sp>
      <p:sp>
        <p:nvSpPr>
          <p:cNvPr id="16" name="TextBox 15"/>
          <p:cNvSpPr txBox="1"/>
          <p:nvPr/>
        </p:nvSpPr>
        <p:spPr>
          <a:xfrm>
            <a:off x="8138160" y="2194560"/>
            <a:ext cx="3063240" cy="3931920"/>
          </a:xfrm>
          <a:prstGeom prst="rect">
            <a:avLst/>
          </a:prstGeom>
          <a:noFill/>
        </p:spPr>
        <p:txBody>
          <a:bodyPr wrap="square">
            <a:spAutoFit/>
          </a:bodyPr>
          <a:lstStyle/>
          <a:p>
            <a:pPr>
              <a:defRPr sz="1050">
                <a:solidFill>
                  <a:srgbClr val="0F172A"/>
                </a:solidFill>
                <a:latin typeface="Arial"/>
              </a:defRPr>
            </a:pPr>
            <a:r>
              <a:t>• Buffer System:</a:t>
            </a:r>
          </a:p>
          <a:p>
            <a:pPr>
              <a:defRPr sz="1050">
                <a:solidFill>
                  <a:srgbClr val="0F172A"/>
                </a:solidFill>
                <a:latin typeface="Arial"/>
              </a:defRPr>
            </a:pPr>
            <a:r>
              <a:t>  50 mM Sodium Citrate-Phosphate buffer, pH 5.0.</a:t>
            </a:r>
          </a:p>
          <a:p>
            <a:pPr>
              <a:defRPr sz="1050">
                <a:solidFill>
                  <a:srgbClr val="0F172A"/>
                </a:solidFill>
                <a:latin typeface="Arial"/>
              </a:defRPr>
            </a:pPr>
          </a:p>
          <a:p>
            <a:pPr>
              <a:defRPr sz="1050">
                <a:solidFill>
                  <a:srgbClr val="0F172A"/>
                </a:solidFill>
                <a:latin typeface="Arial"/>
              </a:defRPr>
            </a:pPr>
            <a:r>
              <a:t>• Substrates:</a:t>
            </a:r>
          </a:p>
          <a:p>
            <a:pPr>
              <a:defRPr sz="1050">
                <a:solidFill>
                  <a:srgbClr val="0F172A"/>
                </a:solidFill>
                <a:latin typeface="Arial"/>
              </a:defRPr>
            </a:pPr>
            <a:r>
              <a:t>  - 1.5 mM ABTS (2,2'-azino-bis(3-ethylbenzothiazoline-6-sulfonic acid))</a:t>
            </a:r>
          </a:p>
          <a:p>
            <a:pPr>
              <a:defRPr sz="1050">
                <a:solidFill>
                  <a:srgbClr val="0F172A"/>
                </a:solidFill>
                <a:latin typeface="Arial"/>
              </a:defRPr>
            </a:pPr>
            <a:r>
              <a:t>  - 0.5 mM H2O2 (diluted freshly from 30% stock).</a:t>
            </a:r>
          </a:p>
          <a:p>
            <a:pPr>
              <a:defRPr sz="1050">
                <a:solidFill>
                  <a:srgbClr val="0F172A"/>
                </a:solidFill>
                <a:latin typeface="Arial"/>
              </a:defRPr>
            </a:pPr>
          </a:p>
          <a:p>
            <a:pPr>
              <a:defRPr sz="1050">
                <a:solidFill>
                  <a:srgbClr val="0F172A"/>
                </a:solidFill>
                <a:latin typeface="Arial"/>
              </a:defRPr>
            </a:pPr>
            <a:r>
              <a:t>• Optical Detection:</a:t>
            </a:r>
          </a:p>
          <a:p>
            <a:pPr>
              <a:defRPr sz="1050">
                <a:solidFill>
                  <a:srgbClr val="0F172A"/>
                </a:solidFill>
                <a:latin typeface="Arial"/>
              </a:defRPr>
            </a:pPr>
            <a:r>
              <a:t>  Absorbance increase at 405 nm (green radical cation).</a:t>
            </a:r>
          </a:p>
          <a:p>
            <a:pPr>
              <a:defRPr sz="1050">
                <a:solidFill>
                  <a:srgbClr val="0F172A"/>
                </a:solidFill>
                <a:latin typeface="Arial"/>
              </a:defRPr>
            </a:pPr>
          </a:p>
          <a:p>
            <a:pPr>
              <a:defRPr sz="1050">
                <a:solidFill>
                  <a:srgbClr val="0F172A"/>
                </a:solidFill>
                <a:latin typeface="Arial"/>
              </a:defRPr>
            </a:pPr>
            <a:r>
              <a:t>• Critical Note: Never add sodium azide (NaN3) to HRP buffers—azide irreversibly inhibits heme peroxidases!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lIns="0" rIns="0" tIns="0" bIns="0">
            <a:spAutoFit/>
          </a:bodyPr>
          <a:lstStyle/>
          <a:p>
            <a:pPr>
              <a:defRPr sz="1000" b="1">
                <a:solidFill>
                  <a:srgbClr val="0D9488"/>
                </a:solidFill>
                <a:latin typeface="Arial"/>
              </a:defRPr>
            </a:pPr>
            <a:r>
              <a:t>LAB MANAGEMENT &amp; STABILITY</a:t>
            </a:r>
          </a:p>
        </p:txBody>
      </p:sp>
      <p:sp>
        <p:nvSpPr>
          <p:cNvPr id="4" name="TextBox 3"/>
          <p:cNvSpPr txBox="1"/>
          <p:nvPr/>
        </p:nvSpPr>
        <p:spPr>
          <a:xfrm>
            <a:off x="731520" y="685800"/>
            <a:ext cx="10698480" cy="594360"/>
          </a:xfrm>
          <a:prstGeom prst="rect">
            <a:avLst/>
          </a:prstGeom>
          <a:noFill/>
        </p:spPr>
        <p:txBody>
          <a:bodyPr wrap="square" lIns="0" rIns="0" tIns="0" bIns="0">
            <a:spAutoFit/>
          </a:bodyPr>
          <a:lstStyle/>
          <a:p>
            <a:pPr>
              <a:defRPr sz="2200" b="1">
                <a:solidFill>
                  <a:srgbClr val="0F172A"/>
                </a:solidFill>
                <a:latin typeface="Arial"/>
              </a:defRPr>
            </a:pPr>
            <a:r>
              <a:t>Reagent Storage, Shelf-Life &amp; Stability Management</a:t>
            </a:r>
          </a:p>
        </p:txBody>
      </p:sp>
      <p:sp>
        <p:nvSpPr>
          <p:cNvPr id="5" name="Rounded Rectangle 4"/>
          <p:cNvSpPr/>
          <p:nvPr/>
        </p:nvSpPr>
        <p:spPr>
          <a:xfrm>
            <a:off x="731520" y="1463040"/>
            <a:ext cx="5257800" cy="2240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00200"/>
            <a:ext cx="4892040" cy="365760"/>
          </a:xfrm>
          <a:prstGeom prst="rect">
            <a:avLst/>
          </a:prstGeom>
          <a:noFill/>
        </p:spPr>
        <p:txBody>
          <a:bodyPr wrap="none">
            <a:spAutoFit/>
          </a:bodyPr>
          <a:lstStyle/>
          <a:p>
            <a:pPr>
              <a:defRPr sz="1300" b="1">
                <a:solidFill>
                  <a:srgbClr val="2563EB"/>
                </a:solidFill>
                <a:latin typeface="Arial"/>
              </a:defRPr>
            </a:pPr>
            <a:r>
              <a:t>Room Temperature (20–25°C)</a:t>
            </a:r>
          </a:p>
        </p:txBody>
      </p:sp>
      <p:sp>
        <p:nvSpPr>
          <p:cNvPr id="7" name="TextBox 6"/>
          <p:cNvSpPr txBox="1"/>
          <p:nvPr/>
        </p:nvSpPr>
        <p:spPr>
          <a:xfrm>
            <a:off x="914400" y="2011680"/>
            <a:ext cx="4892040" cy="1600200"/>
          </a:xfrm>
          <a:prstGeom prst="rect">
            <a:avLst/>
          </a:prstGeom>
          <a:noFill/>
        </p:spPr>
        <p:txBody>
          <a:bodyPr wrap="square">
            <a:spAutoFit/>
          </a:bodyPr>
          <a:lstStyle/>
          <a:p>
            <a:pPr>
              <a:defRPr sz="1050">
                <a:solidFill>
                  <a:srgbClr val="0F172A"/>
                </a:solidFill>
                <a:latin typeface="Arial"/>
              </a:defRPr>
            </a:pPr>
            <a:r>
              <a:t>• Stable Reagents:</a:t>
            </a:r>
          </a:p>
          <a:p>
            <a:pPr>
              <a:defRPr sz="1050">
                <a:solidFill>
                  <a:srgbClr val="0F172A"/>
                </a:solidFill>
                <a:latin typeface="Arial"/>
              </a:defRPr>
            </a:pPr>
            <a:r>
              <a:t>  Concentrated stock salts (e.g., 5 M NaCl, 1 M KCl, 1 M Tris-HCl stock).</a:t>
            </a:r>
          </a:p>
          <a:p>
            <a:pPr>
              <a:defRPr sz="1050">
                <a:solidFill>
                  <a:srgbClr val="0F172A"/>
                </a:solidFill>
                <a:latin typeface="Arial"/>
              </a:defRPr>
            </a:pPr>
          </a:p>
          <a:p>
            <a:pPr>
              <a:defRPr sz="1050">
                <a:solidFill>
                  <a:srgbClr val="0F172A"/>
                </a:solidFill>
                <a:latin typeface="Arial"/>
              </a:defRPr>
            </a:pPr>
            <a:r>
              <a:t>• Storage Conditions:</a:t>
            </a:r>
          </a:p>
          <a:p>
            <a:pPr>
              <a:defRPr sz="1050">
                <a:solidFill>
                  <a:srgbClr val="0F172A"/>
                </a:solidFill>
                <a:latin typeface="Arial"/>
              </a:defRPr>
            </a:pPr>
            <a:r>
              <a:t>  Airtight glass bottles, protected from direct sunlight.</a:t>
            </a:r>
          </a:p>
          <a:p>
            <a:pPr>
              <a:defRPr sz="1050">
                <a:solidFill>
                  <a:srgbClr val="0F172A"/>
                </a:solidFill>
                <a:latin typeface="Arial"/>
              </a:defRPr>
            </a:pPr>
          </a:p>
          <a:p>
            <a:pPr>
              <a:defRPr sz="1050">
                <a:solidFill>
                  <a:srgbClr val="0F172A"/>
                </a:solidFill>
                <a:latin typeface="Arial"/>
              </a:defRPr>
            </a:pPr>
            <a:r>
              <a:t>• Caution:</a:t>
            </a:r>
          </a:p>
          <a:p>
            <a:pPr>
              <a:defRPr sz="1050">
                <a:solidFill>
                  <a:srgbClr val="0F172A"/>
                </a:solidFill>
                <a:latin typeface="Arial"/>
              </a:defRPr>
            </a:pPr>
            <a:r>
              <a:t>  Unbuffered water absorbs atmospheric CO2, forming carbonic acid (H2CO3) and dropping pH to ~5.5! Always keep sealed.</a:t>
            </a:r>
          </a:p>
        </p:txBody>
      </p:sp>
      <p:sp>
        <p:nvSpPr>
          <p:cNvPr id="8" name="Rounded Rectangle 7"/>
          <p:cNvSpPr/>
          <p:nvPr/>
        </p:nvSpPr>
        <p:spPr>
          <a:xfrm>
            <a:off x="6172200" y="1463040"/>
            <a:ext cx="5257800" cy="2240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600200"/>
            <a:ext cx="4892040" cy="365760"/>
          </a:xfrm>
          <a:prstGeom prst="rect">
            <a:avLst/>
          </a:prstGeom>
          <a:noFill/>
        </p:spPr>
        <p:txBody>
          <a:bodyPr wrap="none">
            <a:spAutoFit/>
          </a:bodyPr>
          <a:lstStyle/>
          <a:p>
            <a:pPr>
              <a:defRPr sz="1300" b="1">
                <a:solidFill>
                  <a:srgbClr val="2563EB"/>
                </a:solidFill>
                <a:latin typeface="Arial"/>
              </a:defRPr>
            </a:pPr>
            <a:r>
              <a:t>Refrigerated (2–8°C)</a:t>
            </a:r>
          </a:p>
        </p:txBody>
      </p:sp>
      <p:sp>
        <p:nvSpPr>
          <p:cNvPr id="10" name="TextBox 9"/>
          <p:cNvSpPr txBox="1"/>
          <p:nvPr/>
        </p:nvSpPr>
        <p:spPr>
          <a:xfrm>
            <a:off x="6355080" y="2011680"/>
            <a:ext cx="4892040" cy="1600200"/>
          </a:xfrm>
          <a:prstGeom prst="rect">
            <a:avLst/>
          </a:prstGeom>
          <a:noFill/>
        </p:spPr>
        <p:txBody>
          <a:bodyPr wrap="square">
            <a:spAutoFit/>
          </a:bodyPr>
          <a:lstStyle/>
          <a:p>
            <a:pPr>
              <a:defRPr sz="1050">
                <a:solidFill>
                  <a:srgbClr val="0F172A"/>
                </a:solidFill>
                <a:latin typeface="Arial"/>
              </a:defRPr>
            </a:pPr>
            <a:r>
              <a:t>• Stable Reagents:</a:t>
            </a:r>
          </a:p>
          <a:p>
            <a:pPr>
              <a:defRPr sz="1050">
                <a:solidFill>
                  <a:srgbClr val="0F172A"/>
                </a:solidFill>
                <a:latin typeface="Arial"/>
              </a:defRPr>
            </a:pPr>
            <a:r>
              <a:t>  Sterile-filtered working assay buffers (e.g., HEPES, MOPS, PBS).</a:t>
            </a:r>
          </a:p>
          <a:p>
            <a:pPr>
              <a:defRPr sz="1050">
                <a:solidFill>
                  <a:srgbClr val="0F172A"/>
                </a:solidFill>
                <a:latin typeface="Arial"/>
              </a:defRPr>
            </a:pPr>
          </a:p>
          <a:p>
            <a:pPr>
              <a:defRPr sz="1050">
                <a:solidFill>
                  <a:srgbClr val="0F172A"/>
                </a:solidFill>
                <a:latin typeface="Arial"/>
              </a:defRPr>
            </a:pPr>
            <a:r>
              <a:t>• Shelf Life:</a:t>
            </a:r>
          </a:p>
          <a:p>
            <a:pPr>
              <a:defRPr sz="1050">
                <a:solidFill>
                  <a:srgbClr val="0F172A"/>
                </a:solidFill>
                <a:latin typeface="Arial"/>
              </a:defRPr>
            </a:pPr>
            <a:r>
              <a:t>  2 to 4 weeks maximum without antimicrobial agents.</a:t>
            </a:r>
          </a:p>
          <a:p>
            <a:pPr>
              <a:defRPr sz="1050">
                <a:solidFill>
                  <a:srgbClr val="0F172A"/>
                </a:solidFill>
                <a:latin typeface="Arial"/>
              </a:defRPr>
            </a:pPr>
          </a:p>
          <a:p>
            <a:pPr>
              <a:defRPr sz="1050">
                <a:solidFill>
                  <a:srgbClr val="0F172A"/>
                </a:solidFill>
                <a:latin typeface="Arial"/>
              </a:defRPr>
            </a:pPr>
            <a:r>
              <a:t>• Quality Control:</a:t>
            </a:r>
          </a:p>
          <a:p>
            <a:pPr>
              <a:defRPr sz="1050">
                <a:solidFill>
                  <a:srgbClr val="0F172A"/>
                </a:solidFill>
                <a:latin typeface="Arial"/>
              </a:defRPr>
            </a:pPr>
            <a:r>
              <a:t>  Inspect against light for microbial cloudiness, fungal pellets, or crystalline precipitates before every experiment.</a:t>
            </a:r>
          </a:p>
        </p:txBody>
      </p:sp>
      <p:sp>
        <p:nvSpPr>
          <p:cNvPr id="11" name="Rounded Rectangle 10"/>
          <p:cNvSpPr/>
          <p:nvPr/>
        </p:nvSpPr>
        <p:spPr>
          <a:xfrm>
            <a:off x="731520" y="3886200"/>
            <a:ext cx="5257800" cy="2240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023360"/>
            <a:ext cx="4892040" cy="365760"/>
          </a:xfrm>
          <a:prstGeom prst="rect">
            <a:avLst/>
          </a:prstGeom>
          <a:noFill/>
        </p:spPr>
        <p:txBody>
          <a:bodyPr wrap="none">
            <a:spAutoFit/>
          </a:bodyPr>
          <a:lstStyle/>
          <a:p>
            <a:pPr>
              <a:defRPr sz="1300" b="1">
                <a:solidFill>
                  <a:srgbClr val="2563EB"/>
                </a:solidFill>
                <a:latin typeface="Arial"/>
              </a:defRPr>
            </a:pPr>
            <a:r>
              <a:t>Frozen (-20°C to -80°C)</a:t>
            </a:r>
          </a:p>
        </p:txBody>
      </p:sp>
      <p:sp>
        <p:nvSpPr>
          <p:cNvPr id="13" name="TextBox 12"/>
          <p:cNvSpPr txBox="1"/>
          <p:nvPr/>
        </p:nvSpPr>
        <p:spPr>
          <a:xfrm>
            <a:off x="914400" y="4434840"/>
            <a:ext cx="4892040" cy="1600200"/>
          </a:xfrm>
          <a:prstGeom prst="rect">
            <a:avLst/>
          </a:prstGeom>
          <a:noFill/>
        </p:spPr>
        <p:txBody>
          <a:bodyPr wrap="square">
            <a:spAutoFit/>
          </a:bodyPr>
          <a:lstStyle/>
          <a:p>
            <a:pPr>
              <a:defRPr sz="1050">
                <a:solidFill>
                  <a:srgbClr val="0F172A"/>
                </a:solidFill>
                <a:latin typeface="Arial"/>
              </a:defRPr>
            </a:pPr>
            <a:r>
              <a:t>• Labile Reagents:</a:t>
            </a:r>
          </a:p>
          <a:p>
            <a:pPr>
              <a:defRPr sz="1050">
                <a:solidFill>
                  <a:srgbClr val="0F172A"/>
                </a:solidFill>
                <a:latin typeface="Arial"/>
              </a:defRPr>
            </a:pPr>
            <a:r>
              <a:t>  Enzymes, nucleotide cofactors (ATP, NADH, NADPH), substrates (p-NPP), DTT.</a:t>
            </a:r>
          </a:p>
          <a:p>
            <a:pPr>
              <a:defRPr sz="1050">
                <a:solidFill>
                  <a:srgbClr val="0F172A"/>
                </a:solidFill>
                <a:latin typeface="Arial"/>
              </a:defRPr>
            </a:pPr>
          </a:p>
          <a:p>
            <a:pPr>
              <a:defRPr sz="1050">
                <a:solidFill>
                  <a:srgbClr val="0F172A"/>
                </a:solidFill>
                <a:latin typeface="Arial"/>
              </a:defRPr>
            </a:pPr>
            <a:r>
              <a:t>• The Aliquoting Rule:</a:t>
            </a:r>
          </a:p>
          <a:p>
            <a:pPr>
              <a:defRPr sz="1050">
                <a:solidFill>
                  <a:srgbClr val="0F172A"/>
                </a:solidFill>
                <a:latin typeface="Arial"/>
              </a:defRPr>
            </a:pPr>
            <a:r>
              <a:t>  Always prepare single-use aliquots (e.g., 50–100 uL).</a:t>
            </a:r>
          </a:p>
          <a:p>
            <a:pPr>
              <a:defRPr sz="1050">
                <a:solidFill>
                  <a:srgbClr val="0F172A"/>
                </a:solidFill>
                <a:latin typeface="Arial"/>
              </a:defRPr>
            </a:pPr>
          </a:p>
          <a:p>
            <a:pPr>
              <a:defRPr sz="1050">
                <a:solidFill>
                  <a:srgbClr val="0F172A"/>
                </a:solidFill>
                <a:latin typeface="Arial"/>
              </a:defRPr>
            </a:pPr>
            <a:r>
              <a:t>• Freeze-Thaw Hazard:</a:t>
            </a:r>
          </a:p>
          <a:p>
            <a:pPr>
              <a:defRPr sz="1050">
                <a:solidFill>
                  <a:srgbClr val="0F172A"/>
                </a:solidFill>
                <a:latin typeface="Arial"/>
              </a:defRPr>
            </a:pPr>
            <a:r>
              <a:t>  Each freeze-thaw cycle denatures 10–30% of enzyme molecules through ice crystallization and local cryo-concentration of salts!</a:t>
            </a:r>
          </a:p>
        </p:txBody>
      </p:sp>
      <p:sp>
        <p:nvSpPr>
          <p:cNvPr id="14" name="Rounded Rectangle 13"/>
          <p:cNvSpPr/>
          <p:nvPr/>
        </p:nvSpPr>
        <p:spPr>
          <a:xfrm>
            <a:off x="6172200" y="3886200"/>
            <a:ext cx="5257800" cy="2240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5080" y="4023360"/>
            <a:ext cx="4892040" cy="365760"/>
          </a:xfrm>
          <a:prstGeom prst="rect">
            <a:avLst/>
          </a:prstGeom>
          <a:noFill/>
        </p:spPr>
        <p:txBody>
          <a:bodyPr wrap="none">
            <a:spAutoFit/>
          </a:bodyPr>
          <a:lstStyle/>
          <a:p>
            <a:pPr>
              <a:defRPr sz="1300" b="1">
                <a:solidFill>
                  <a:srgbClr val="2563EB"/>
                </a:solidFill>
                <a:latin typeface="Arial"/>
              </a:defRPr>
            </a:pPr>
            <a:r>
              <a:t>Light &amp; Preservative Controls</a:t>
            </a:r>
          </a:p>
        </p:txBody>
      </p:sp>
      <p:sp>
        <p:nvSpPr>
          <p:cNvPr id="16" name="TextBox 15"/>
          <p:cNvSpPr txBox="1"/>
          <p:nvPr/>
        </p:nvSpPr>
        <p:spPr>
          <a:xfrm>
            <a:off x="6355080" y="4434840"/>
            <a:ext cx="4892040" cy="1600200"/>
          </a:xfrm>
          <a:prstGeom prst="rect">
            <a:avLst/>
          </a:prstGeom>
          <a:noFill/>
        </p:spPr>
        <p:txBody>
          <a:bodyPr wrap="square">
            <a:spAutoFit/>
          </a:bodyPr>
          <a:lstStyle/>
          <a:p>
            <a:pPr>
              <a:defRPr sz="1050">
                <a:solidFill>
                  <a:srgbClr val="0F172A"/>
                </a:solidFill>
                <a:latin typeface="Arial"/>
              </a:defRPr>
            </a:pPr>
            <a:r>
              <a:t>• Photoprotection:</a:t>
            </a:r>
          </a:p>
          <a:p>
            <a:pPr>
              <a:defRPr sz="1050">
                <a:solidFill>
                  <a:srgbClr val="0F172A"/>
                </a:solidFill>
                <a:latin typeface="Arial"/>
              </a:defRPr>
            </a:pPr>
            <a:r>
              <a:t>  Store NADH, FAD, and fluorophores in opaque amber tubes or wrap tubes completely in aluminum foil.</a:t>
            </a:r>
          </a:p>
          <a:p>
            <a:pPr>
              <a:defRPr sz="1050">
                <a:solidFill>
                  <a:srgbClr val="0F172A"/>
                </a:solidFill>
                <a:latin typeface="Arial"/>
              </a:defRPr>
            </a:pPr>
          </a:p>
          <a:p>
            <a:pPr>
              <a:defRPr sz="1050">
                <a:solidFill>
                  <a:srgbClr val="0F172A"/>
                </a:solidFill>
                <a:latin typeface="Arial"/>
              </a:defRPr>
            </a:pPr>
            <a:r>
              <a:t>• Sodium Azide (NaN3, 0.02% w/v):</a:t>
            </a:r>
          </a:p>
          <a:p>
            <a:pPr>
              <a:defRPr sz="1050">
                <a:solidFill>
                  <a:srgbClr val="0F172A"/>
                </a:solidFill>
                <a:latin typeface="Arial"/>
              </a:defRPr>
            </a:pPr>
            <a:r>
              <a:t>  Effective bacteriostatic agent for antibody and column storage.</a:t>
            </a:r>
          </a:p>
          <a:p>
            <a:pPr>
              <a:defRPr sz="1050">
                <a:solidFill>
                  <a:srgbClr val="0F172A"/>
                </a:solidFill>
                <a:latin typeface="Arial"/>
              </a:defRPr>
            </a:pPr>
          </a:p>
          <a:p>
            <a:pPr>
              <a:defRPr sz="1050">
                <a:solidFill>
                  <a:srgbClr val="0F172A"/>
                </a:solidFill>
                <a:latin typeface="Arial"/>
              </a:defRPr>
            </a:pPr>
            <a:r>
              <a:t>• Major Incompatibility:</a:t>
            </a:r>
          </a:p>
          <a:p>
            <a:pPr>
              <a:defRPr sz="1050">
                <a:solidFill>
                  <a:srgbClr val="0F172A"/>
                </a:solidFill>
                <a:latin typeface="Arial"/>
              </a:defRPr>
            </a:pPr>
            <a:r>
              <a:t>  NaN3 completely poisons HRP, catalase, and cytochrome c oxidase assays!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lIns="0" rIns="0" tIns="0" bIns="0">
            <a:spAutoFit/>
          </a:bodyPr>
          <a:lstStyle/>
          <a:p>
            <a:pPr>
              <a:defRPr sz="1000" b="1">
                <a:solidFill>
                  <a:srgbClr val="0D9488"/>
                </a:solidFill>
                <a:latin typeface="Arial"/>
              </a:defRPr>
            </a:pPr>
            <a:r>
              <a:t>TROUBLESHOOTING &amp; QUALITY GATES</a:t>
            </a:r>
          </a:p>
        </p:txBody>
      </p:sp>
      <p:sp>
        <p:nvSpPr>
          <p:cNvPr id="4" name="TextBox 3"/>
          <p:cNvSpPr txBox="1"/>
          <p:nvPr/>
        </p:nvSpPr>
        <p:spPr>
          <a:xfrm>
            <a:off x="731520" y="685800"/>
            <a:ext cx="10698480" cy="594360"/>
          </a:xfrm>
          <a:prstGeom prst="rect">
            <a:avLst/>
          </a:prstGeom>
          <a:noFill/>
        </p:spPr>
        <p:txBody>
          <a:bodyPr wrap="square" lIns="0" rIns="0" tIns="0" bIns="0">
            <a:spAutoFit/>
          </a:bodyPr>
          <a:lstStyle/>
          <a:p>
            <a:pPr>
              <a:defRPr sz="2200" b="1">
                <a:solidFill>
                  <a:srgbClr val="0F172A"/>
                </a:solidFill>
                <a:latin typeface="Arial"/>
              </a:defRPr>
            </a:pPr>
            <a:r>
              <a:t>Troubleshooting Common Buffer &amp; Reagent Pitfalls</a:t>
            </a:r>
          </a:p>
        </p:txBody>
      </p:sp>
      <p:graphicFrame>
        <p:nvGraphicFramePr>
          <p:cNvPr id="5" name="Table 4"/>
          <p:cNvGraphicFramePr>
            <a:graphicFrameLocks noGrp="1"/>
          </p:cNvGraphicFramePr>
          <p:nvPr/>
        </p:nvGraphicFramePr>
        <p:xfrm>
          <a:off x="731520" y="1463040"/>
          <a:ext cx="10698480" cy="4754880"/>
        </p:xfrm>
        <a:graphic>
          <a:graphicData uri="http://schemas.openxmlformats.org/drawingml/2006/table">
            <a:tbl>
              <a:tblPr firstRow="1" bandRow="1">
                <a:tableStyleId>{5C22544A-7EE6-4342-B048-85BDC9FD1C3A}</a:tableStyleId>
              </a:tblPr>
              <a:tblGrid>
                <a:gridCol w="2926080"/>
                <a:gridCol w="3931920"/>
                <a:gridCol w="3840480"/>
              </a:tblGrid>
              <a:tr h="792480">
                <a:tc>
                  <a:txBody>
                    <a:bodyPr/>
                    <a:lstStyle/>
                    <a:p>
                      <a:pPr algn="ctr">
                        <a:defRPr sz="1100" b="1">
                          <a:solidFill>
                            <a:srgbClr val="FFFFFF"/>
                          </a:solidFill>
                          <a:latin typeface="Arial"/>
                        </a:defRPr>
                      </a:pPr>
                      <a:r>
                        <a:t>Symptom / Problem</a:t>
                      </a:r>
                    </a:p>
                  </a:txBody>
                  <a:tcPr>
                    <a:solidFill>
                      <a:srgbClr val="0A192F"/>
                    </a:solidFill>
                  </a:tcPr>
                </a:tc>
                <a:tc>
                  <a:txBody>
                    <a:bodyPr/>
                    <a:lstStyle/>
                    <a:p>
                      <a:pPr algn="ctr">
                        <a:defRPr sz="1100" b="1">
                          <a:solidFill>
                            <a:srgbClr val="FFFFFF"/>
                          </a:solidFill>
                          <a:latin typeface="Arial"/>
                        </a:defRPr>
                      </a:pPr>
                      <a:r>
                        <a:t>Underlying Root Cause</a:t>
                      </a:r>
                    </a:p>
                  </a:txBody>
                  <a:tcPr>
                    <a:solidFill>
                      <a:srgbClr val="0A192F"/>
                    </a:solidFill>
                  </a:tcPr>
                </a:tc>
                <a:tc>
                  <a:txBody>
                    <a:bodyPr/>
                    <a:lstStyle/>
                    <a:p>
                      <a:pPr algn="ctr">
                        <a:defRPr sz="1100" b="1">
                          <a:solidFill>
                            <a:srgbClr val="FFFFFF"/>
                          </a:solidFill>
                          <a:latin typeface="Arial"/>
                        </a:defRPr>
                      </a:pPr>
                      <a:r>
                        <a:t>Corrective Action (SOP)</a:t>
                      </a:r>
                    </a:p>
                  </a:txBody>
                  <a:tcPr>
                    <a:solidFill>
                      <a:srgbClr val="0A192F"/>
                    </a:solidFill>
                  </a:tcPr>
                </a:tc>
              </a:tr>
              <a:tr h="792480">
                <a:tc>
                  <a:txBody>
                    <a:bodyPr/>
                    <a:lstStyle/>
                    <a:p>
                      <a:pPr>
                        <a:defRPr sz="1000" b="1">
                          <a:solidFill>
                            <a:srgbClr val="0F172A"/>
                          </a:solidFill>
                          <a:latin typeface="Arial"/>
                        </a:defRPr>
                      </a:pPr>
                      <a:r>
                        <a:t>Day-to-day kinetic variability (&gt; 25% drift in Vmax)</a:t>
                      </a:r>
                    </a:p>
                  </a:txBody>
                  <a:tcPr>
                    <a:solidFill>
                      <a:srgbClr val="FFFFFF"/>
                    </a:solidFill>
                  </a:tcPr>
                </a:tc>
                <a:tc>
                  <a:txBody>
                    <a:bodyPr/>
                    <a:lstStyle/>
                    <a:p>
                      <a:pPr>
                        <a:defRPr sz="1000">
                          <a:solidFill>
                            <a:srgbClr val="0F172A"/>
                          </a:solidFill>
                          <a:latin typeface="Arial"/>
                        </a:defRPr>
                      </a:pPr>
                      <a:r>
                        <a:t>Buffer pH adjusted at 20°C but assay incubated at 37°C (dpKa/dT temperature drift).</a:t>
                      </a:r>
                    </a:p>
                  </a:txBody>
                  <a:tcPr>
                    <a:solidFill>
                      <a:srgbClr val="FFFFFF"/>
                    </a:solidFill>
                  </a:tcPr>
                </a:tc>
                <a:tc>
                  <a:txBody>
                    <a:bodyPr/>
                    <a:lstStyle/>
                    <a:p>
                      <a:pPr>
                        <a:defRPr sz="1000">
                          <a:solidFill>
                            <a:srgbClr val="0F172A"/>
                          </a:solidFill>
                          <a:latin typeface="Arial"/>
                        </a:defRPr>
                      </a:pPr>
                      <a:r>
                        <a:t>Equilibrate buffer to 37°C before pH titration; switch to low-dpKa/dT buffers (e.g., MOPS, HEPES).</a:t>
                      </a:r>
                    </a:p>
                  </a:txBody>
                  <a:tcPr>
                    <a:solidFill>
                      <a:srgbClr val="FFFFFF"/>
                    </a:solidFill>
                  </a:tcPr>
                </a:tc>
              </a:tr>
              <a:tr h="792480">
                <a:tc>
                  <a:txBody>
                    <a:bodyPr/>
                    <a:lstStyle/>
                    <a:p>
                      <a:pPr>
                        <a:defRPr sz="1000" b="1">
                          <a:solidFill>
                            <a:srgbClr val="0F172A"/>
                          </a:solidFill>
                          <a:latin typeface="Arial"/>
                        </a:defRPr>
                      </a:pPr>
                      <a:r>
                        <a:t>Milky white precipitate forms upon mixing assay components</a:t>
                      </a:r>
                    </a:p>
                  </a:txBody>
                  <a:tcPr>
                    <a:solidFill>
                      <a:srgbClr val="EFF6FF"/>
                    </a:solidFill>
                  </a:tcPr>
                </a:tc>
                <a:tc>
                  <a:txBody>
                    <a:bodyPr/>
                    <a:lstStyle/>
                    <a:p>
                      <a:pPr>
                        <a:defRPr sz="1000">
                          <a:solidFill>
                            <a:srgbClr val="0F172A"/>
                          </a:solidFill>
                          <a:latin typeface="Arial"/>
                        </a:defRPr>
                      </a:pPr>
                      <a:r>
                        <a:t>Divalent cation (Mg2+, Ca2+) added directly to phosphate or carbonate buffer.</a:t>
                      </a:r>
                    </a:p>
                  </a:txBody>
                  <a:tcPr>
                    <a:solidFill>
                      <a:srgbClr val="EFF6FF"/>
                    </a:solidFill>
                  </a:tcPr>
                </a:tc>
                <a:tc>
                  <a:txBody>
                    <a:bodyPr/>
                    <a:lstStyle/>
                    <a:p>
                      <a:pPr>
                        <a:defRPr sz="1000">
                          <a:solidFill>
                            <a:srgbClr val="0F172A"/>
                          </a:solidFill>
                          <a:latin typeface="Arial"/>
                        </a:defRPr>
                      </a:pPr>
                      <a:r>
                        <a:t>Switch to Good's buffers (HEPES); or prepare metal cofactor as a dilute working stock added last.</a:t>
                      </a:r>
                    </a:p>
                  </a:txBody>
                  <a:tcPr>
                    <a:solidFill>
                      <a:srgbClr val="EFF6FF"/>
                    </a:solidFill>
                  </a:tcPr>
                </a:tc>
              </a:tr>
              <a:tr h="792480">
                <a:tc>
                  <a:txBody>
                    <a:bodyPr/>
                    <a:lstStyle/>
                    <a:p>
                      <a:pPr>
                        <a:defRPr sz="1000" b="1">
                          <a:solidFill>
                            <a:srgbClr val="0F172A"/>
                          </a:solidFill>
                          <a:latin typeface="Arial"/>
                        </a:defRPr>
                      </a:pPr>
                      <a:r>
                        <a:t>Progressive loss of activity at low enzyme concentrations</a:t>
                      </a:r>
                    </a:p>
                  </a:txBody>
                  <a:tcPr>
                    <a:solidFill>
                      <a:srgbClr val="FFFFFF"/>
                    </a:solidFill>
                  </a:tcPr>
                </a:tc>
                <a:tc>
                  <a:txBody>
                    <a:bodyPr/>
                    <a:lstStyle/>
                    <a:p>
                      <a:pPr>
                        <a:defRPr sz="1000">
                          <a:solidFill>
                            <a:srgbClr val="0F172A"/>
                          </a:solidFill>
                          <a:latin typeface="Arial"/>
                        </a:defRPr>
                      </a:pPr>
                      <a:r>
                        <a:t>Non-specific adsorption of enzyme to pipette tips and microplate walls.</a:t>
                      </a:r>
                    </a:p>
                  </a:txBody>
                  <a:tcPr>
                    <a:solidFill>
                      <a:srgbClr val="FFFFFF"/>
                    </a:solidFill>
                  </a:tcPr>
                </a:tc>
                <a:tc>
                  <a:txBody>
                    <a:bodyPr/>
                    <a:lstStyle/>
                    <a:p>
                      <a:pPr>
                        <a:defRPr sz="1000">
                          <a:solidFill>
                            <a:srgbClr val="0F172A"/>
                          </a:solidFill>
                          <a:latin typeface="Arial"/>
                        </a:defRPr>
                      </a:pPr>
                      <a:r>
                        <a:t>Supplement assay buffer with 0.1% (w/v) molecular biology grade BSA or 0.01% Tween-20.</a:t>
                      </a:r>
                    </a:p>
                  </a:txBody>
                  <a:tcPr>
                    <a:solidFill>
                      <a:srgbClr val="FFFFFF"/>
                    </a:solidFill>
                  </a:tcPr>
                </a:tc>
              </a:tr>
              <a:tr h="792480">
                <a:tc>
                  <a:txBody>
                    <a:bodyPr/>
                    <a:lstStyle/>
                    <a:p>
                      <a:pPr>
                        <a:defRPr sz="1000" b="1">
                          <a:solidFill>
                            <a:srgbClr val="0F172A"/>
                          </a:solidFill>
                          <a:latin typeface="Arial"/>
                        </a:defRPr>
                      </a:pPr>
                      <a:r>
                        <a:t>High initial background absorbance in UV / NADH assay</a:t>
                      </a:r>
                    </a:p>
                  </a:txBody>
                  <a:tcPr>
                    <a:solidFill>
                      <a:srgbClr val="EFF6FF"/>
                    </a:solidFill>
                  </a:tcPr>
                </a:tc>
                <a:tc>
                  <a:txBody>
                    <a:bodyPr/>
                    <a:lstStyle/>
                    <a:p>
                      <a:pPr>
                        <a:defRPr sz="1000">
                          <a:solidFill>
                            <a:srgbClr val="0F172A"/>
                          </a:solidFill>
                          <a:latin typeface="Arial"/>
                        </a:defRPr>
                      </a:pPr>
                      <a:r>
                        <a:t>DTT oxidation products, excess imidazole, or aromatic detergent (Triton X-100) in buffer.</a:t>
                      </a:r>
                    </a:p>
                  </a:txBody>
                  <a:tcPr>
                    <a:solidFill>
                      <a:srgbClr val="EFF6FF"/>
                    </a:solidFill>
                  </a:tcPr>
                </a:tc>
                <a:tc>
                  <a:txBody>
                    <a:bodyPr/>
                    <a:lstStyle/>
                    <a:p>
                      <a:pPr>
                        <a:defRPr sz="1000">
                          <a:solidFill>
                            <a:srgbClr val="0F172A"/>
                          </a:solidFill>
                          <a:latin typeface="Arial"/>
                        </a:defRPr>
                      </a:pPr>
                      <a:r>
                        <a:t>Replace DTT with 1 mM TCEP; use non-aromatic detergent (Tween-20); dialyze out imidazole.</a:t>
                      </a:r>
                    </a:p>
                  </a:txBody>
                  <a:tcPr>
                    <a:solidFill>
                      <a:srgbClr val="EFF6FF"/>
                    </a:solidFill>
                  </a:tcPr>
                </a:tc>
              </a:tr>
              <a:tr h="792480">
                <a:tc>
                  <a:txBody>
                    <a:bodyPr/>
                    <a:lstStyle/>
                    <a:p>
                      <a:pPr>
                        <a:defRPr sz="1000" b="1">
                          <a:solidFill>
                            <a:srgbClr val="0F172A"/>
                          </a:solidFill>
                          <a:latin typeface="Arial"/>
                        </a:defRPr>
                      </a:pPr>
                      <a:r>
                        <a:t>Substrate exhibits high baseline velocity in 'No-Enzyme' blank</a:t>
                      </a:r>
                    </a:p>
                  </a:txBody>
                  <a:tcPr>
                    <a:solidFill>
                      <a:srgbClr val="FFFFFF"/>
                    </a:solidFill>
                  </a:tcPr>
                </a:tc>
                <a:tc>
                  <a:txBody>
                    <a:bodyPr/>
                    <a:lstStyle/>
                    <a:p>
                      <a:pPr>
                        <a:defRPr sz="1000">
                          <a:solidFill>
                            <a:srgbClr val="0F172A"/>
                          </a:solidFill>
                          <a:latin typeface="Arial"/>
                        </a:defRPr>
                      </a:pPr>
                      <a:r>
                        <a:t>Spontaneous auto-hydrolysis of labile ester/anhydride bonds (e.g., p-NPP).</a:t>
                      </a:r>
                    </a:p>
                  </a:txBody>
                  <a:tcPr>
                    <a:solidFill>
                      <a:srgbClr val="FFFFFF"/>
                    </a:solidFill>
                  </a:tcPr>
                </a:tc>
                <a:tc>
                  <a:txBody>
                    <a:bodyPr/>
                    <a:lstStyle/>
                    <a:p>
                      <a:pPr>
                        <a:defRPr sz="1000">
                          <a:solidFill>
                            <a:srgbClr val="0F172A"/>
                          </a:solidFill>
                          <a:latin typeface="Arial"/>
                        </a:defRPr>
                      </a:pPr>
                      <a:r>
                        <a:t>Prepare substrate immediately before assay; lower stock pH slightly; keep substrate on ice.</a:t>
                      </a:r>
                    </a:p>
                  </a:txBody>
                  <a:tcPr>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lIns="0" rIns="0" tIns="0" bIns="0">
            <a:spAutoFit/>
          </a:bodyPr>
          <a:lstStyle/>
          <a:p>
            <a:pPr>
              <a:defRPr sz="1000" b="1">
                <a:solidFill>
                  <a:srgbClr val="38BDF8"/>
                </a:solidFill>
                <a:latin typeface="Arial"/>
              </a:defRPr>
            </a:pPr>
            <a:r>
              <a:t>SYNTHESIS &amp; SUMMARY</a:t>
            </a:r>
          </a:p>
        </p:txBody>
      </p:sp>
      <p:sp>
        <p:nvSpPr>
          <p:cNvPr id="4" name="TextBox 3"/>
          <p:cNvSpPr txBox="1"/>
          <p:nvPr/>
        </p:nvSpPr>
        <p:spPr>
          <a:xfrm>
            <a:off x="731520" y="685800"/>
            <a:ext cx="10698480" cy="594360"/>
          </a:xfrm>
          <a:prstGeom prst="rect">
            <a:avLst/>
          </a:prstGeom>
          <a:noFill/>
        </p:spPr>
        <p:txBody>
          <a:bodyPr wrap="square" lIns="0" rIns="0" tIns="0" bIns="0">
            <a:spAutoFit/>
          </a:bodyPr>
          <a:lstStyle/>
          <a:p>
            <a:pPr>
              <a:defRPr sz="2200" b="1">
                <a:solidFill>
                  <a:srgbClr val="FFFFFF"/>
                </a:solidFill>
                <a:latin typeface="Arial"/>
              </a:defRPr>
            </a:pPr>
            <a:r>
              <a:t>The Enzymologist's Golden Checklist</a:t>
            </a:r>
          </a:p>
        </p:txBody>
      </p:sp>
      <p:sp>
        <p:nvSpPr>
          <p:cNvPr id="5" name="Rounded Rectangle 4"/>
          <p:cNvSpPr/>
          <p:nvPr/>
        </p:nvSpPr>
        <p:spPr>
          <a:xfrm>
            <a:off x="731520" y="1463040"/>
            <a:ext cx="5257800" cy="1417320"/>
          </a:xfrm>
          <a:prstGeom prst="roundRect">
            <a:avLst/>
          </a:prstGeom>
          <a:solidFill>
            <a:srgbClr val="112240"/>
          </a:solidFill>
          <a:ln w="1524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14400" y="1645920"/>
            <a:ext cx="320040" cy="320040"/>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rial"/>
              </a:defRPr>
            </a:pPr>
            <a:r>
              <a:t>✓</a:t>
            </a:r>
          </a:p>
        </p:txBody>
      </p:sp>
      <p:sp>
        <p:nvSpPr>
          <p:cNvPr id="7" name="TextBox 6"/>
          <p:cNvSpPr txBox="1"/>
          <p:nvPr/>
        </p:nvSpPr>
        <p:spPr>
          <a:xfrm>
            <a:off x="1325880" y="1600200"/>
            <a:ext cx="4480560" cy="320040"/>
          </a:xfrm>
          <a:prstGeom prst="rect">
            <a:avLst/>
          </a:prstGeom>
          <a:noFill/>
        </p:spPr>
        <p:txBody>
          <a:bodyPr wrap="none">
            <a:spAutoFit/>
          </a:bodyPr>
          <a:lstStyle/>
          <a:p>
            <a:pPr>
              <a:defRPr sz="1300" b="1">
                <a:solidFill>
                  <a:srgbClr val="FFFFFF"/>
                </a:solidFill>
                <a:latin typeface="Arial"/>
              </a:defRPr>
            </a:pPr>
            <a:r>
              <a:t>1. Buffer pKa Matching</a:t>
            </a:r>
          </a:p>
        </p:txBody>
      </p:sp>
      <p:sp>
        <p:nvSpPr>
          <p:cNvPr id="8" name="TextBox 7"/>
          <p:cNvSpPr txBox="1"/>
          <p:nvPr/>
        </p:nvSpPr>
        <p:spPr>
          <a:xfrm>
            <a:off x="1325880" y="1965960"/>
            <a:ext cx="4480560" cy="822960"/>
          </a:xfrm>
          <a:prstGeom prst="rect">
            <a:avLst/>
          </a:prstGeom>
          <a:noFill/>
        </p:spPr>
        <p:txBody>
          <a:bodyPr wrap="square">
            <a:spAutoFit/>
          </a:bodyPr>
          <a:lstStyle/>
          <a:p>
            <a:pPr>
              <a:defRPr sz="1050">
                <a:solidFill>
                  <a:srgbClr val="94A3B8"/>
                </a:solidFill>
                <a:latin typeface="Arial"/>
              </a:defRPr>
            </a:pPr>
            <a:r>
              <a:t>Target assay pH is strictly within pKa ± 0.8 units of the chosen buffer system.</a:t>
            </a:r>
          </a:p>
        </p:txBody>
      </p:sp>
      <p:sp>
        <p:nvSpPr>
          <p:cNvPr id="9" name="Rounded Rectangle 8"/>
          <p:cNvSpPr/>
          <p:nvPr/>
        </p:nvSpPr>
        <p:spPr>
          <a:xfrm>
            <a:off x="6172200" y="1463040"/>
            <a:ext cx="5257800" cy="1417320"/>
          </a:xfrm>
          <a:prstGeom prst="roundRect">
            <a:avLst/>
          </a:prstGeom>
          <a:solidFill>
            <a:srgbClr val="112240"/>
          </a:solidFill>
          <a:ln w="1524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355080" y="1645920"/>
            <a:ext cx="320040" cy="320040"/>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rial"/>
              </a:defRPr>
            </a:pPr>
            <a:r>
              <a:t>✓</a:t>
            </a:r>
          </a:p>
        </p:txBody>
      </p:sp>
      <p:sp>
        <p:nvSpPr>
          <p:cNvPr id="11" name="TextBox 10"/>
          <p:cNvSpPr txBox="1"/>
          <p:nvPr/>
        </p:nvSpPr>
        <p:spPr>
          <a:xfrm>
            <a:off x="6766560" y="1600200"/>
            <a:ext cx="4480560" cy="320040"/>
          </a:xfrm>
          <a:prstGeom prst="rect">
            <a:avLst/>
          </a:prstGeom>
          <a:noFill/>
        </p:spPr>
        <p:txBody>
          <a:bodyPr wrap="none">
            <a:spAutoFit/>
          </a:bodyPr>
          <a:lstStyle/>
          <a:p>
            <a:pPr>
              <a:defRPr sz="1300" b="1">
                <a:solidFill>
                  <a:srgbClr val="FFFFFF"/>
                </a:solidFill>
                <a:latin typeface="Arial"/>
              </a:defRPr>
            </a:pPr>
            <a:r>
              <a:t>2. Temperature Alignment</a:t>
            </a:r>
          </a:p>
        </p:txBody>
      </p:sp>
      <p:sp>
        <p:nvSpPr>
          <p:cNvPr id="12" name="TextBox 11"/>
          <p:cNvSpPr txBox="1"/>
          <p:nvPr/>
        </p:nvSpPr>
        <p:spPr>
          <a:xfrm>
            <a:off x="6766560" y="1965960"/>
            <a:ext cx="4480560" cy="822960"/>
          </a:xfrm>
          <a:prstGeom prst="rect">
            <a:avLst/>
          </a:prstGeom>
          <a:noFill/>
        </p:spPr>
        <p:txBody>
          <a:bodyPr wrap="square">
            <a:spAutoFit/>
          </a:bodyPr>
          <a:lstStyle/>
          <a:p>
            <a:pPr>
              <a:defRPr sz="1050">
                <a:solidFill>
                  <a:srgbClr val="94A3B8"/>
                </a:solidFill>
                <a:latin typeface="Arial"/>
              </a:defRPr>
            </a:pPr>
            <a:r>
              <a:t>pH meter calibrated and buffer titrated at the exact experimental operating temperature.</a:t>
            </a:r>
          </a:p>
        </p:txBody>
      </p:sp>
      <p:sp>
        <p:nvSpPr>
          <p:cNvPr id="13" name="Rounded Rectangle 12"/>
          <p:cNvSpPr/>
          <p:nvPr/>
        </p:nvSpPr>
        <p:spPr>
          <a:xfrm>
            <a:off x="731520" y="3063240"/>
            <a:ext cx="5257800" cy="1417320"/>
          </a:xfrm>
          <a:prstGeom prst="roundRect">
            <a:avLst/>
          </a:prstGeom>
          <a:solidFill>
            <a:srgbClr val="112240"/>
          </a:solidFill>
          <a:ln w="1524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3246120"/>
            <a:ext cx="320040" cy="320040"/>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rial"/>
              </a:defRPr>
            </a:pPr>
            <a:r>
              <a:t>✓</a:t>
            </a:r>
          </a:p>
        </p:txBody>
      </p:sp>
      <p:sp>
        <p:nvSpPr>
          <p:cNvPr id="15" name="TextBox 14"/>
          <p:cNvSpPr txBox="1"/>
          <p:nvPr/>
        </p:nvSpPr>
        <p:spPr>
          <a:xfrm>
            <a:off x="1325880" y="3200400"/>
            <a:ext cx="4480560" cy="320040"/>
          </a:xfrm>
          <a:prstGeom prst="rect">
            <a:avLst/>
          </a:prstGeom>
          <a:noFill/>
        </p:spPr>
        <p:txBody>
          <a:bodyPr wrap="none">
            <a:spAutoFit/>
          </a:bodyPr>
          <a:lstStyle/>
          <a:p>
            <a:pPr>
              <a:defRPr sz="1300" b="1">
                <a:solidFill>
                  <a:srgbClr val="FFFFFF"/>
                </a:solidFill>
                <a:latin typeface="Arial"/>
              </a:defRPr>
            </a:pPr>
            <a:r>
              <a:t>3. Ultrapure Water</a:t>
            </a:r>
          </a:p>
        </p:txBody>
      </p:sp>
      <p:sp>
        <p:nvSpPr>
          <p:cNvPr id="16" name="TextBox 15"/>
          <p:cNvSpPr txBox="1"/>
          <p:nvPr/>
        </p:nvSpPr>
        <p:spPr>
          <a:xfrm>
            <a:off x="1325880" y="3566160"/>
            <a:ext cx="4480560" cy="822960"/>
          </a:xfrm>
          <a:prstGeom prst="rect">
            <a:avLst/>
          </a:prstGeom>
          <a:noFill/>
        </p:spPr>
        <p:txBody>
          <a:bodyPr wrap="square">
            <a:spAutoFit/>
          </a:bodyPr>
          <a:lstStyle/>
          <a:p>
            <a:pPr>
              <a:defRPr sz="1050">
                <a:solidFill>
                  <a:srgbClr val="94A3B8"/>
                </a:solidFill>
                <a:latin typeface="Arial"/>
              </a:defRPr>
            </a:pPr>
            <a:r>
              <a:t>18.2 MOhm*cm Type I Milli-Q water used exclusively for all solutions and final rinses.</a:t>
            </a:r>
          </a:p>
        </p:txBody>
      </p:sp>
      <p:sp>
        <p:nvSpPr>
          <p:cNvPr id="17" name="Rounded Rectangle 16"/>
          <p:cNvSpPr/>
          <p:nvPr/>
        </p:nvSpPr>
        <p:spPr>
          <a:xfrm>
            <a:off x="6172200" y="3063240"/>
            <a:ext cx="5257800" cy="1417320"/>
          </a:xfrm>
          <a:prstGeom prst="roundRect">
            <a:avLst/>
          </a:prstGeom>
          <a:solidFill>
            <a:srgbClr val="112240"/>
          </a:solidFill>
          <a:ln w="1524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355080" y="3246120"/>
            <a:ext cx="320040" cy="320040"/>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rial"/>
              </a:defRPr>
            </a:pPr>
            <a:r>
              <a:t>✓</a:t>
            </a:r>
          </a:p>
        </p:txBody>
      </p:sp>
      <p:sp>
        <p:nvSpPr>
          <p:cNvPr id="19" name="TextBox 18"/>
          <p:cNvSpPr txBox="1"/>
          <p:nvPr/>
        </p:nvSpPr>
        <p:spPr>
          <a:xfrm>
            <a:off x="6766560" y="3200400"/>
            <a:ext cx="4480560" cy="320040"/>
          </a:xfrm>
          <a:prstGeom prst="rect">
            <a:avLst/>
          </a:prstGeom>
          <a:noFill/>
        </p:spPr>
        <p:txBody>
          <a:bodyPr wrap="none">
            <a:spAutoFit/>
          </a:bodyPr>
          <a:lstStyle/>
          <a:p>
            <a:pPr>
              <a:defRPr sz="1300" b="1">
                <a:solidFill>
                  <a:srgbClr val="FFFFFF"/>
                </a:solidFill>
                <a:latin typeface="Arial"/>
              </a:defRPr>
            </a:pPr>
            <a:r>
              <a:t>4. Fresh Labile Reagents</a:t>
            </a:r>
          </a:p>
        </p:txBody>
      </p:sp>
      <p:sp>
        <p:nvSpPr>
          <p:cNvPr id="20" name="TextBox 19"/>
          <p:cNvSpPr txBox="1"/>
          <p:nvPr/>
        </p:nvSpPr>
        <p:spPr>
          <a:xfrm>
            <a:off x="6766560" y="3566160"/>
            <a:ext cx="4480560" cy="822960"/>
          </a:xfrm>
          <a:prstGeom prst="rect">
            <a:avLst/>
          </a:prstGeom>
          <a:noFill/>
        </p:spPr>
        <p:txBody>
          <a:bodyPr wrap="square">
            <a:spAutoFit/>
          </a:bodyPr>
          <a:lstStyle/>
          <a:p>
            <a:pPr>
              <a:defRPr sz="1050">
                <a:solidFill>
                  <a:srgbClr val="94A3B8"/>
                </a:solidFill>
                <a:latin typeface="Arial"/>
              </a:defRPr>
            </a:pPr>
            <a:r>
              <a:t>Substrates (p-NPP), cofactors (ATP, NADH), and reducing agents (DTT) prepared fresh or single-use frozen.</a:t>
            </a:r>
          </a:p>
        </p:txBody>
      </p:sp>
      <p:sp>
        <p:nvSpPr>
          <p:cNvPr id="21" name="Rounded Rectangle 20"/>
          <p:cNvSpPr/>
          <p:nvPr/>
        </p:nvSpPr>
        <p:spPr>
          <a:xfrm>
            <a:off x="731520" y="4663440"/>
            <a:ext cx="5257800" cy="1417320"/>
          </a:xfrm>
          <a:prstGeom prst="roundRect">
            <a:avLst/>
          </a:prstGeom>
          <a:solidFill>
            <a:srgbClr val="112240"/>
          </a:solidFill>
          <a:ln w="1524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14400" y="4846320"/>
            <a:ext cx="320040" cy="320040"/>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rial"/>
              </a:defRPr>
            </a:pPr>
            <a:r>
              <a:t>✓</a:t>
            </a:r>
          </a:p>
        </p:txBody>
      </p:sp>
      <p:sp>
        <p:nvSpPr>
          <p:cNvPr id="23" name="TextBox 22"/>
          <p:cNvSpPr txBox="1"/>
          <p:nvPr/>
        </p:nvSpPr>
        <p:spPr>
          <a:xfrm>
            <a:off x="1325880" y="4800600"/>
            <a:ext cx="4480560" cy="320040"/>
          </a:xfrm>
          <a:prstGeom prst="rect">
            <a:avLst/>
          </a:prstGeom>
          <a:noFill/>
        </p:spPr>
        <p:txBody>
          <a:bodyPr wrap="none">
            <a:spAutoFit/>
          </a:bodyPr>
          <a:lstStyle/>
          <a:p>
            <a:pPr>
              <a:defRPr sz="1300" b="1">
                <a:solidFill>
                  <a:srgbClr val="FFFFFF"/>
                </a:solidFill>
                <a:latin typeface="Arial"/>
              </a:defRPr>
            </a:pPr>
            <a:r>
              <a:t>5. Wall Adsorption Shield</a:t>
            </a:r>
          </a:p>
        </p:txBody>
      </p:sp>
      <p:sp>
        <p:nvSpPr>
          <p:cNvPr id="24" name="TextBox 23"/>
          <p:cNvSpPr txBox="1"/>
          <p:nvPr/>
        </p:nvSpPr>
        <p:spPr>
          <a:xfrm>
            <a:off x="1325880" y="5166360"/>
            <a:ext cx="4480560" cy="822960"/>
          </a:xfrm>
          <a:prstGeom prst="rect">
            <a:avLst/>
          </a:prstGeom>
          <a:noFill/>
        </p:spPr>
        <p:txBody>
          <a:bodyPr wrap="square">
            <a:spAutoFit/>
          </a:bodyPr>
          <a:lstStyle/>
          <a:p>
            <a:pPr>
              <a:defRPr sz="1050">
                <a:solidFill>
                  <a:srgbClr val="94A3B8"/>
                </a:solidFill>
                <a:latin typeface="Arial"/>
              </a:defRPr>
            </a:pPr>
            <a:r>
              <a:t>0.1% BSA or 0.01% non-ionic detergent included to prevent enzyme sticking at low concentrations.</a:t>
            </a:r>
          </a:p>
        </p:txBody>
      </p:sp>
      <p:sp>
        <p:nvSpPr>
          <p:cNvPr id="25" name="Rounded Rectangle 24"/>
          <p:cNvSpPr/>
          <p:nvPr/>
        </p:nvSpPr>
        <p:spPr>
          <a:xfrm>
            <a:off x="6172200" y="4663440"/>
            <a:ext cx="5257800" cy="1417320"/>
          </a:xfrm>
          <a:prstGeom prst="roundRect">
            <a:avLst/>
          </a:prstGeom>
          <a:solidFill>
            <a:srgbClr val="112240"/>
          </a:solidFill>
          <a:ln w="1524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355080" y="4846320"/>
            <a:ext cx="320040" cy="320040"/>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rial"/>
              </a:defRPr>
            </a:pPr>
            <a:r>
              <a:t>✓</a:t>
            </a:r>
          </a:p>
        </p:txBody>
      </p:sp>
      <p:sp>
        <p:nvSpPr>
          <p:cNvPr id="27" name="TextBox 26"/>
          <p:cNvSpPr txBox="1"/>
          <p:nvPr/>
        </p:nvSpPr>
        <p:spPr>
          <a:xfrm>
            <a:off x="6766560" y="4800600"/>
            <a:ext cx="4480560" cy="320040"/>
          </a:xfrm>
          <a:prstGeom prst="rect">
            <a:avLst/>
          </a:prstGeom>
          <a:noFill/>
        </p:spPr>
        <p:txBody>
          <a:bodyPr wrap="none">
            <a:spAutoFit/>
          </a:bodyPr>
          <a:lstStyle/>
          <a:p>
            <a:pPr>
              <a:defRPr sz="1300" b="1">
                <a:solidFill>
                  <a:srgbClr val="FFFFFF"/>
                </a:solidFill>
                <a:latin typeface="Arial"/>
              </a:defRPr>
            </a:pPr>
            <a:r>
              <a:t>6. Complete Controls</a:t>
            </a:r>
          </a:p>
        </p:txBody>
      </p:sp>
      <p:sp>
        <p:nvSpPr>
          <p:cNvPr id="28" name="TextBox 27"/>
          <p:cNvSpPr txBox="1"/>
          <p:nvPr/>
        </p:nvSpPr>
        <p:spPr>
          <a:xfrm>
            <a:off x="6766560" y="5166360"/>
            <a:ext cx="4480560" cy="822960"/>
          </a:xfrm>
          <a:prstGeom prst="rect">
            <a:avLst/>
          </a:prstGeom>
          <a:noFill/>
        </p:spPr>
        <p:txBody>
          <a:bodyPr wrap="square">
            <a:spAutoFit/>
          </a:bodyPr>
          <a:lstStyle/>
          <a:p>
            <a:pPr>
              <a:defRPr sz="1050">
                <a:solidFill>
                  <a:srgbClr val="94A3B8"/>
                </a:solidFill>
                <a:latin typeface="Arial"/>
              </a:defRPr>
            </a:pPr>
            <a:r>
              <a:t>Every plate/run includes 'No-Enzyme' (auto-hydrolysis) and 'No-Substrate' (background) blanks.</a:t>
            </a:r>
          </a:p>
        </p:txBody>
      </p:sp>
      <p:sp>
        <p:nvSpPr>
          <p:cNvPr id="29" name="TextBox 28"/>
          <p:cNvSpPr txBox="1"/>
          <p:nvPr/>
        </p:nvSpPr>
        <p:spPr>
          <a:xfrm>
            <a:off x="731520" y="5943600"/>
            <a:ext cx="10698480" cy="548640"/>
          </a:xfrm>
          <a:prstGeom prst="rect">
            <a:avLst/>
          </a:prstGeom>
          <a:noFill/>
        </p:spPr>
        <p:txBody>
          <a:bodyPr wrap="none">
            <a:spAutoFit/>
          </a:bodyPr>
          <a:lstStyle/>
          <a:p>
            <a:pPr algn="ctr">
              <a:defRPr sz="1200" b="1">
                <a:solidFill>
                  <a:srgbClr val="38BDF8"/>
                </a:solidFill>
                <a:latin typeface="Arial"/>
              </a:defRPr>
            </a:pPr>
            <a:r>
              <a:t>Takeaway: Precision in buffer and reagent preparation is the cornerstone of reproducibility in biotechnology.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lIns="0" rIns="0" tIns="0" bIns="0">
            <a:spAutoFit/>
          </a:bodyPr>
          <a:lstStyle/>
          <a:p>
            <a:pPr>
              <a:defRPr sz="1000" b="1">
                <a:solidFill>
                  <a:srgbClr val="38BDF8"/>
                </a:solidFill>
                <a:latin typeface="Arial"/>
              </a:defRPr>
            </a:pPr>
            <a:r>
              <a:t>ACADEMIC LITERATURE &amp; STANDARDS</a:t>
            </a:r>
          </a:p>
        </p:txBody>
      </p:sp>
      <p:sp>
        <p:nvSpPr>
          <p:cNvPr id="4" name="TextBox 3"/>
          <p:cNvSpPr txBox="1"/>
          <p:nvPr/>
        </p:nvSpPr>
        <p:spPr>
          <a:xfrm>
            <a:off x="731520" y="685800"/>
            <a:ext cx="10698480" cy="594360"/>
          </a:xfrm>
          <a:prstGeom prst="rect">
            <a:avLst/>
          </a:prstGeom>
          <a:noFill/>
        </p:spPr>
        <p:txBody>
          <a:bodyPr wrap="square" lIns="0" rIns="0" tIns="0" bIns="0">
            <a:spAutoFit/>
          </a:bodyPr>
          <a:lstStyle/>
          <a:p>
            <a:pPr>
              <a:defRPr sz="2200" b="1">
                <a:solidFill>
                  <a:srgbClr val="FFFFFF"/>
                </a:solidFill>
                <a:latin typeface="Arial"/>
              </a:defRPr>
            </a:pPr>
            <a:r>
              <a:t>Authoritative References &amp; Further Reading</a:t>
            </a:r>
          </a:p>
        </p:txBody>
      </p:sp>
      <p:sp>
        <p:nvSpPr>
          <p:cNvPr id="5" name="Rounded Rectangle 4"/>
          <p:cNvSpPr/>
          <p:nvPr/>
        </p:nvSpPr>
        <p:spPr>
          <a:xfrm>
            <a:off x="731520" y="1463040"/>
            <a:ext cx="10698480" cy="4846320"/>
          </a:xfrm>
          <a:prstGeom prst="roundRect">
            <a:avLst/>
          </a:prstGeom>
          <a:solidFill>
            <a:srgbClr val="112240"/>
          </a:solidFill>
          <a:ln w="1524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45920"/>
            <a:ext cx="10149840" cy="4480560"/>
          </a:xfrm>
          <a:prstGeom prst="rect">
            <a:avLst/>
          </a:prstGeom>
          <a:noFill/>
        </p:spPr>
        <p:txBody>
          <a:bodyPr wrap="square">
            <a:spAutoFit/>
          </a:bodyPr>
          <a:lstStyle/>
          <a:p>
            <a:pPr>
              <a:defRPr sz="1050" b="1">
                <a:solidFill>
                  <a:srgbClr val="FFFFFF"/>
                </a:solidFill>
                <a:latin typeface="Arial"/>
              </a:defRPr>
            </a:pPr>
            <a:r>
              <a:t>1. Good, N. E., Winget, G. D., Winter, W., Connolly, T. N., Izawa, S., &amp; Singh, R. M. (1966). </a:t>
            </a:r>
          </a:p>
          <a:p>
            <a:pPr>
              <a:defRPr sz="950">
                <a:solidFill>
                  <a:srgbClr val="94A3B8"/>
                </a:solidFill>
                <a:latin typeface="Arial"/>
              </a:defRPr>
            </a:pPr>
            <a:r>
              <a:t>   Hydrogen ion buffers for biological research. Biochemistry, 5(2), 467–477. [Landmark paper introducing Good's zwitterionic buffers]</a:t>
            </a:r>
          </a:p>
          <a:p>
            <a:pPr>
              <a:defRPr sz="300"/>
            </a:pPr>
          </a:p>
          <a:p>
            <a:pPr>
              <a:defRPr sz="1050" b="1">
                <a:solidFill>
                  <a:srgbClr val="FFFFFF"/>
                </a:solidFill>
                <a:latin typeface="Arial"/>
              </a:defRPr>
            </a:pPr>
            <a:r>
              <a:t>2. Segel, I. H. (1976). </a:t>
            </a:r>
          </a:p>
          <a:p>
            <a:pPr>
              <a:defRPr sz="950">
                <a:solidFill>
                  <a:srgbClr val="94A3B8"/>
                </a:solidFill>
                <a:latin typeface="Arial"/>
              </a:defRPr>
            </a:pPr>
            <a:r>
              <a:t>   Biochemical Calculations: How to Solve Mathematical Problems in General Biochemistry (2nd ed.). John Wiley &amp; Sons. [Definitive reference for Henderson-Hasselbalch, ionic strength, and kinetic formulations]</a:t>
            </a:r>
          </a:p>
          <a:p>
            <a:pPr>
              <a:defRPr sz="300"/>
            </a:pPr>
          </a:p>
          <a:p>
            <a:pPr>
              <a:defRPr sz="1050" b="1">
                <a:solidFill>
                  <a:srgbClr val="FFFFFF"/>
                </a:solidFill>
                <a:latin typeface="Arial"/>
              </a:defRPr>
            </a:pPr>
            <a:r>
              <a:t>3. Eisenthal, R., &amp; Danson, M. J. (Eds.). (2002). </a:t>
            </a:r>
          </a:p>
          <a:p>
            <a:pPr>
              <a:defRPr sz="950">
                <a:solidFill>
                  <a:srgbClr val="94A3B8"/>
                </a:solidFill>
                <a:latin typeface="Arial"/>
              </a:defRPr>
            </a:pPr>
            <a:r>
              <a:t>   Enzyme Assays: A Practical Approach (2nd ed.). Oxford University Press. [Standard laboratory manual for assay design and reagent compatibility]</a:t>
            </a:r>
          </a:p>
          <a:p>
            <a:pPr>
              <a:defRPr sz="300"/>
            </a:pPr>
          </a:p>
          <a:p>
            <a:pPr>
              <a:defRPr sz="1050" b="1">
                <a:solidFill>
                  <a:srgbClr val="FFFFFF"/>
                </a:solidFill>
                <a:latin typeface="Arial"/>
              </a:defRPr>
            </a:pPr>
            <a:r>
              <a:t>4. Bisswanger, H. (2014). </a:t>
            </a:r>
          </a:p>
          <a:p>
            <a:pPr>
              <a:defRPr sz="950">
                <a:solidFill>
                  <a:srgbClr val="94A3B8"/>
                </a:solidFill>
                <a:latin typeface="Arial"/>
              </a:defRPr>
            </a:pPr>
            <a:r>
              <a:t>   Enzyme Assays: High-Throughput Screening, Genetic Selection and Fingerprinting (3rd ed.). Wiley-VCH. [Comprehensive coverage of modern microplate formats, spectral interferences, and stabilizers]</a:t>
            </a:r>
          </a:p>
          <a:p>
            <a:pPr>
              <a:defRPr sz="300"/>
            </a:pPr>
          </a:p>
          <a:p>
            <a:pPr>
              <a:defRPr sz="1050" b="1">
                <a:solidFill>
                  <a:srgbClr val="FFFFFF"/>
                </a:solidFill>
                <a:latin typeface="Arial"/>
              </a:defRPr>
            </a:pPr>
            <a:r>
              <a:t>5. Copeland, R. A. (2000). </a:t>
            </a:r>
          </a:p>
          <a:p>
            <a:pPr>
              <a:defRPr sz="950">
                <a:solidFill>
                  <a:srgbClr val="94A3B8"/>
                </a:solidFill>
                <a:latin typeface="Arial"/>
              </a:defRPr>
            </a:pPr>
            <a:r>
              <a:t>   Enzymes: A Practical Introduction to Structure, Mechanism, and Data Analysis (2nd ed.). Wiley-VCH. [In-depth treatment of cofactor kinetics, substrate solubility, and cosolvent effects]</a:t>
            </a:r>
          </a:p>
          <a:p>
            <a:pPr>
              <a:defRPr sz="300"/>
            </a:pPr>
          </a:p>
          <a:p>
            <a:pPr>
              <a:defRPr sz="1050" b="1">
                <a:solidFill>
                  <a:srgbClr val="FFFFFF"/>
                </a:solidFill>
                <a:latin typeface="Arial"/>
              </a:defRPr>
            </a:pPr>
            <a:r>
              <a:t>6. Beynon, R. J., &amp; Easterby, J. S. (1996). </a:t>
            </a:r>
          </a:p>
          <a:p>
            <a:pPr>
              <a:defRPr sz="950">
                <a:solidFill>
                  <a:srgbClr val="94A3B8"/>
                </a:solidFill>
                <a:latin typeface="Arial"/>
              </a:defRPr>
            </a:pPr>
            <a:r>
              <a:t>   Buffer Solutions: The Basics. BIOS Scientific Publishers / Springer. [Thermodynamic treatment of temperature coefficients (dpKa/dT) and buffering capacity]</a:t>
            </a:r>
          </a:p>
          <a:p>
            <a:pPr>
              <a:defRPr sz="300"/>
            </a:pPr>
          </a:p>
          <a:p>
            <a:pPr>
              <a:defRPr sz="1050" b="1">
                <a:solidFill>
                  <a:srgbClr val="FFFFFF"/>
                </a:solidFill>
                <a:latin typeface="Arial"/>
              </a:defRPr>
            </a:pPr>
            <a:r>
              <a:t>7. Worthington Biochemical Corporation. (2020). </a:t>
            </a:r>
          </a:p>
          <a:p>
            <a:pPr>
              <a:defRPr sz="950">
                <a:solidFill>
                  <a:srgbClr val="94A3B8"/>
                </a:solidFill>
                <a:latin typeface="Arial"/>
              </a:defRPr>
            </a:pPr>
            <a:r>
              <a:t>   Worthington Enzyme Manual: Enzymes and Related Biochemicals. Freehold, NJ. [Standard assay protocols for Alkaline Phosphatase, LDH, and Peroxidase]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